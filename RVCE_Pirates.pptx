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Overlock"/>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gAEly1mm6Gztg97q6LT26oYZ2G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BC58816-BF98-4B47-BD33-F8403E895F92}">
  <a:tblStyle styleId="{7BC58816-BF98-4B47-BD33-F8403E895F9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Overlock-regular.fntdata"/><Relationship Id="rId21" Type="http://schemas.openxmlformats.org/officeDocument/2006/relationships/slide" Target="slides/slide16.xml"/><Relationship Id="rId24" Type="http://schemas.openxmlformats.org/officeDocument/2006/relationships/font" Target="fonts/Overlock-italic.fntdata"/><Relationship Id="rId23" Type="http://schemas.openxmlformats.org/officeDocument/2006/relationships/font" Target="fonts/Overlock-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Overlock-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e7c6fae0b2_1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3e7c6fae0b2_1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g3e7c6fae0b2_1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fb11f9506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3dfb11f9506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3dfb11f9506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dfb11f9506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g3dfb11f9506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g3dfb11f9506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fb11f9506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3dfb11f9506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dfb11f9506_0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dfb11f9506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g3dfb11f9506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g3dfb11f9506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dfb11f9506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g3dfb11f9506_1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g3dfb11f9506_1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9" name="Shape 1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1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 name="Google Shape;23;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1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1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2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1"/>
          <p:cNvSpPr/>
          <p:nvPr>
            <p:ph idx="2" type="pic"/>
          </p:nvPr>
        </p:nvSpPr>
        <p:spPr>
          <a:xfrm>
            <a:off x="5183188" y="987425"/>
            <a:ext cx="6172200" cy="4873625"/>
          </a:xfrm>
          <a:prstGeom prst="rect">
            <a:avLst/>
          </a:prstGeom>
          <a:noFill/>
          <a:ln>
            <a:noFill/>
          </a:ln>
        </p:spPr>
      </p:sp>
      <p:sp>
        <p:nvSpPr>
          <p:cNvPr id="69" name="Google Shape;69;p2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2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
          <p:cNvPicPr preferRelativeResize="0"/>
          <p:nvPr/>
        </p:nvPicPr>
        <p:blipFill rotWithShape="1">
          <a:blip r:embed="rId3">
            <a:alphaModFix/>
          </a:blip>
          <a:srcRect b="40504" l="35216" r="35722" t="9860"/>
          <a:stretch/>
        </p:blipFill>
        <p:spPr>
          <a:xfrm>
            <a:off x="7372538" y="1619794"/>
            <a:ext cx="4421349" cy="5638238"/>
          </a:xfrm>
          <a:prstGeom prst="rect">
            <a:avLst/>
          </a:prstGeom>
          <a:noFill/>
          <a:ln>
            <a:noFill/>
          </a:ln>
        </p:spPr>
      </p:pic>
      <p:sp>
        <p:nvSpPr>
          <p:cNvPr id="90" name="Google Shape;90;p1"/>
          <p:cNvSpPr txBox="1"/>
          <p:nvPr/>
        </p:nvSpPr>
        <p:spPr>
          <a:xfrm>
            <a:off x="0" y="604461"/>
            <a:ext cx="2182586"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2000" u="none" cap="none" strike="noStrike">
                <a:solidFill>
                  <a:schemeClr val="dk1"/>
                </a:solidFill>
                <a:latin typeface="Overlock"/>
                <a:ea typeface="Overlock"/>
                <a:cs typeface="Overlock"/>
                <a:sym typeface="Overlock"/>
              </a:rPr>
              <a:t>CLASH OF THE</a:t>
            </a:r>
            <a:endParaRPr b="1" i="0" sz="2000" u="none" cap="none" strike="noStrike">
              <a:solidFill>
                <a:srgbClr val="E81B25"/>
              </a:solidFill>
              <a:latin typeface="Overlock"/>
              <a:ea typeface="Overlock"/>
              <a:cs typeface="Overlock"/>
              <a:sym typeface="Overlock"/>
            </a:endParaRPr>
          </a:p>
        </p:txBody>
      </p:sp>
      <p:sp>
        <p:nvSpPr>
          <p:cNvPr id="91" name="Google Shape;91;p1"/>
          <p:cNvSpPr txBox="1"/>
          <p:nvPr/>
        </p:nvSpPr>
        <p:spPr>
          <a:xfrm>
            <a:off x="1756232" y="436120"/>
            <a:ext cx="209116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3600" u="none" cap="none" strike="noStrike">
                <a:solidFill>
                  <a:srgbClr val="E81B25"/>
                </a:solidFill>
                <a:latin typeface="Overlock"/>
                <a:ea typeface="Overlock"/>
                <a:cs typeface="Overlock"/>
                <a:sym typeface="Overlock"/>
              </a:rPr>
              <a:t>CLAWS</a:t>
            </a:r>
            <a:endParaRPr b="0" i="0" sz="3600" u="none" cap="none" strike="noStrike">
              <a:solidFill>
                <a:schemeClr val="dk1"/>
              </a:solidFill>
              <a:latin typeface="Overlock"/>
              <a:ea typeface="Overlock"/>
              <a:cs typeface="Overlock"/>
              <a:sym typeface="Overlock"/>
            </a:endParaRPr>
          </a:p>
        </p:txBody>
      </p:sp>
      <p:sp>
        <p:nvSpPr>
          <p:cNvPr id="92" name="Google Shape;92;p1"/>
          <p:cNvSpPr txBox="1"/>
          <p:nvPr/>
        </p:nvSpPr>
        <p:spPr>
          <a:xfrm>
            <a:off x="614775" y="1413500"/>
            <a:ext cx="6429300" cy="504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4000">
                <a:solidFill>
                  <a:srgbClr val="E81B25"/>
                </a:solidFill>
                <a:latin typeface="Overlock"/>
                <a:ea typeface="Overlock"/>
                <a:cs typeface="Overlock"/>
                <a:sym typeface="Overlock"/>
              </a:rPr>
              <a:t>RVCE</a:t>
            </a:r>
            <a:r>
              <a:rPr b="1" i="0" lang="en-IN" sz="4000" u="none" cap="none" strike="noStrike">
                <a:solidFill>
                  <a:srgbClr val="E81B25"/>
                </a:solidFill>
                <a:latin typeface="Overlock"/>
                <a:ea typeface="Overlock"/>
                <a:cs typeface="Overlock"/>
                <a:sym typeface="Overlock"/>
              </a:rPr>
              <a:t>_</a:t>
            </a:r>
            <a:r>
              <a:rPr b="1" lang="en-IN" sz="4000">
                <a:solidFill>
                  <a:srgbClr val="E81B25"/>
                </a:solidFill>
                <a:latin typeface="Overlock"/>
                <a:ea typeface="Overlock"/>
                <a:cs typeface="Overlock"/>
                <a:sym typeface="Overlock"/>
              </a:rPr>
              <a:t>Pirates</a:t>
            </a:r>
            <a:endParaRPr/>
          </a:p>
          <a:p>
            <a:pPr indent="0" lvl="0" marL="0" marR="0" rtl="0" algn="ctr">
              <a:spcBef>
                <a:spcPts val="0"/>
              </a:spcBef>
              <a:spcAft>
                <a:spcPts val="0"/>
              </a:spcAft>
              <a:buNone/>
            </a:pPr>
            <a:r>
              <a:rPr b="1" lang="en-IN" sz="3300">
                <a:solidFill>
                  <a:srgbClr val="E81B25"/>
                </a:solidFill>
                <a:latin typeface="Overlock"/>
                <a:ea typeface="Overlock"/>
                <a:cs typeface="Overlock"/>
                <a:sym typeface="Overlock"/>
              </a:rPr>
              <a:t>Income proof for India's invisible workforce. </a:t>
            </a:r>
            <a:endParaRPr sz="700"/>
          </a:p>
          <a:p>
            <a:pPr indent="0" lvl="0" marL="0" marR="0" rtl="0" algn="ctr">
              <a:spcBef>
                <a:spcPts val="0"/>
              </a:spcBef>
              <a:spcAft>
                <a:spcPts val="0"/>
              </a:spcAft>
              <a:buNone/>
            </a:pPr>
            <a:r>
              <a:t/>
            </a:r>
            <a:endParaRPr b="1" i="0" sz="4000" u="none" cap="none" strike="noStrike">
              <a:solidFill>
                <a:srgbClr val="E81B25"/>
              </a:solidFill>
              <a:latin typeface="Overlock"/>
              <a:ea typeface="Overlock"/>
              <a:cs typeface="Overlock"/>
              <a:sym typeface="Overlock"/>
            </a:endParaRPr>
          </a:p>
          <a:p>
            <a:pPr indent="0" lvl="0" marL="0" marR="0" rtl="0" algn="ctr">
              <a:spcBef>
                <a:spcPts val="0"/>
              </a:spcBef>
              <a:spcAft>
                <a:spcPts val="0"/>
              </a:spcAft>
              <a:buNone/>
            </a:pPr>
            <a:r>
              <a:rPr b="1" lang="en-IN" sz="3400">
                <a:solidFill>
                  <a:schemeClr val="dk2"/>
                </a:solidFill>
                <a:latin typeface="Overlock"/>
                <a:ea typeface="Overlock"/>
                <a:cs typeface="Overlock"/>
                <a:sym typeface="Overlock"/>
              </a:rPr>
              <a:t>Fathima Imran</a:t>
            </a:r>
            <a:endParaRPr b="1" sz="3400">
              <a:solidFill>
                <a:schemeClr val="dk2"/>
              </a:solidFill>
              <a:latin typeface="Overlock"/>
              <a:ea typeface="Overlock"/>
              <a:cs typeface="Overlock"/>
              <a:sym typeface="Overlock"/>
            </a:endParaRPr>
          </a:p>
          <a:p>
            <a:pPr indent="0" lvl="0" marL="0" marR="0" rtl="0" algn="ctr">
              <a:spcBef>
                <a:spcPts val="0"/>
              </a:spcBef>
              <a:spcAft>
                <a:spcPts val="0"/>
              </a:spcAft>
              <a:buNone/>
            </a:pPr>
            <a:r>
              <a:rPr b="1" lang="en-IN" sz="3400">
                <a:solidFill>
                  <a:schemeClr val="dk2"/>
                </a:solidFill>
                <a:latin typeface="Overlock"/>
                <a:ea typeface="Overlock"/>
                <a:cs typeface="Overlock"/>
                <a:sym typeface="Overlock"/>
              </a:rPr>
              <a:t>M. Shashwati Rao</a:t>
            </a:r>
            <a:endParaRPr b="1" sz="3400">
              <a:solidFill>
                <a:schemeClr val="dk2"/>
              </a:solidFill>
              <a:latin typeface="Overlock"/>
              <a:ea typeface="Overlock"/>
              <a:cs typeface="Overlock"/>
              <a:sym typeface="Overlock"/>
            </a:endParaRPr>
          </a:p>
          <a:p>
            <a:pPr indent="0" lvl="0" marL="0" marR="0" rtl="0" algn="ctr">
              <a:spcBef>
                <a:spcPts val="0"/>
              </a:spcBef>
              <a:spcAft>
                <a:spcPts val="0"/>
              </a:spcAft>
              <a:buNone/>
            </a:pPr>
            <a:r>
              <a:rPr b="1" lang="en-IN" sz="3400">
                <a:solidFill>
                  <a:schemeClr val="dk2"/>
                </a:solidFill>
                <a:latin typeface="Overlock"/>
                <a:ea typeface="Overlock"/>
                <a:cs typeface="Overlock"/>
                <a:sym typeface="Overlock"/>
              </a:rPr>
              <a:t>Vidisha Dewan</a:t>
            </a:r>
            <a:endParaRPr b="1" sz="3400">
              <a:solidFill>
                <a:schemeClr val="dk2"/>
              </a:solidFill>
              <a:latin typeface="Overlock"/>
              <a:ea typeface="Overlock"/>
              <a:cs typeface="Overlock"/>
              <a:sym typeface="Overlock"/>
            </a:endParaRPr>
          </a:p>
          <a:p>
            <a:pPr indent="0" lvl="0" marL="0" marR="0" rtl="0" algn="ctr">
              <a:spcBef>
                <a:spcPts val="0"/>
              </a:spcBef>
              <a:spcAft>
                <a:spcPts val="0"/>
              </a:spcAft>
              <a:buNone/>
            </a:pPr>
            <a:r>
              <a:rPr b="1" lang="en-IN" sz="3400">
                <a:solidFill>
                  <a:schemeClr val="dk2"/>
                </a:solidFill>
                <a:latin typeface="Overlock"/>
                <a:ea typeface="Overlock"/>
                <a:cs typeface="Overlock"/>
                <a:sym typeface="Overlock"/>
              </a:rPr>
              <a:t>Tanisha Bhide</a:t>
            </a:r>
            <a:br>
              <a:rPr b="1" i="0" lang="en-IN" sz="4000" u="none" cap="none" strike="noStrike">
                <a:solidFill>
                  <a:schemeClr val="dk2"/>
                </a:solidFill>
                <a:latin typeface="Overlock"/>
                <a:ea typeface="Overlock"/>
                <a:cs typeface="Overlock"/>
                <a:sym typeface="Overlock"/>
              </a:rPr>
            </a:br>
            <a:endParaRPr b="1" i="0" sz="4000" u="none" cap="none" strike="noStrike">
              <a:solidFill>
                <a:schemeClr val="dk2"/>
              </a:solidFill>
              <a:latin typeface="Overlock"/>
              <a:ea typeface="Overlock"/>
              <a:cs typeface="Overlock"/>
              <a:sym typeface="Overlock"/>
            </a:endParaRPr>
          </a:p>
        </p:txBody>
      </p:sp>
      <p:grpSp>
        <p:nvGrpSpPr>
          <p:cNvPr id="93" name="Google Shape;93;p1"/>
          <p:cNvGrpSpPr/>
          <p:nvPr/>
        </p:nvGrpSpPr>
        <p:grpSpPr>
          <a:xfrm>
            <a:off x="137355" y="46746"/>
            <a:ext cx="3814159" cy="639045"/>
            <a:chOff x="137355" y="133834"/>
            <a:chExt cx="3814159" cy="639045"/>
          </a:xfrm>
        </p:grpSpPr>
        <p:pic>
          <p:nvPicPr>
            <p:cNvPr id="94" name="Google Shape;94;p1"/>
            <p:cNvPicPr preferRelativeResize="0"/>
            <p:nvPr/>
          </p:nvPicPr>
          <p:blipFill rotWithShape="1">
            <a:blip r:embed="rId4">
              <a:alphaModFix/>
            </a:blip>
            <a:srcRect b="0" l="0" r="0" t="0"/>
            <a:stretch/>
          </p:blipFill>
          <p:spPr>
            <a:xfrm>
              <a:off x="137355" y="133834"/>
              <a:ext cx="974396" cy="639045"/>
            </a:xfrm>
            <a:prstGeom prst="rect">
              <a:avLst/>
            </a:prstGeom>
            <a:noFill/>
            <a:ln>
              <a:noFill/>
            </a:ln>
          </p:spPr>
        </p:pic>
        <p:sp>
          <p:nvSpPr>
            <p:cNvPr id="95" name="Google Shape;95;p1"/>
            <p:cNvSpPr txBox="1"/>
            <p:nvPr/>
          </p:nvSpPr>
          <p:spPr>
            <a:xfrm>
              <a:off x="1017814" y="244337"/>
              <a:ext cx="29337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1800" u="none" cap="none" strike="noStrike">
                  <a:solidFill>
                    <a:schemeClr val="dk1"/>
                  </a:solidFill>
                  <a:latin typeface="Overlock"/>
                  <a:ea typeface="Overlock"/>
                  <a:cs typeface="Overlock"/>
                  <a:sym typeface="Overlock"/>
                </a:rPr>
                <a:t>| Tech Management, SRI-B</a:t>
              </a:r>
              <a:endParaRPr b="1" i="0" sz="1800" u="none" cap="none" strike="noStrike">
                <a:solidFill>
                  <a:srgbClr val="E81B25"/>
                </a:solidFill>
                <a:latin typeface="Overlock"/>
                <a:ea typeface="Overlock"/>
                <a:cs typeface="Overlock"/>
                <a:sym typeface="Overlock"/>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IN" sz="1000" u="none" cap="none" strike="noStrike">
                <a:solidFill>
                  <a:schemeClr val="lt1"/>
                </a:solidFill>
                <a:latin typeface="Calibri"/>
                <a:ea typeface="Calibri"/>
                <a:cs typeface="Calibri"/>
                <a:sym typeface="Calibri"/>
              </a:rPr>
              <a:t>Idea</a:t>
            </a:r>
            <a:endParaRPr b="0" i="0" sz="1000" u="none" cap="none" strike="noStrike">
              <a:solidFill>
                <a:schemeClr val="lt1"/>
              </a:solidFill>
              <a:latin typeface="Calibri"/>
              <a:ea typeface="Calibri"/>
              <a:cs typeface="Calibri"/>
              <a:sym typeface="Calibri"/>
            </a:endParaRPr>
          </a:p>
        </p:txBody>
      </p:sp>
      <p:sp>
        <p:nvSpPr>
          <p:cNvPr id="104" name="Google Shape;104;p2"/>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IN" sz="4267" u="none" cap="none" strike="noStrike">
                <a:solidFill>
                  <a:schemeClr val="dk1"/>
                </a:solidFill>
                <a:latin typeface="Calibri"/>
                <a:ea typeface="Calibri"/>
                <a:cs typeface="Calibri"/>
                <a:sym typeface="Calibri"/>
              </a:rPr>
              <a:t>Problem Statement</a:t>
            </a:r>
            <a:endParaRPr sz="4267">
              <a:solidFill>
                <a:schemeClr val="dk1"/>
              </a:solidFill>
              <a:latin typeface="Calibri"/>
              <a:ea typeface="Calibri"/>
              <a:cs typeface="Calibri"/>
              <a:sym typeface="Calibri"/>
            </a:endParaRPr>
          </a:p>
        </p:txBody>
      </p:sp>
      <p:sp>
        <p:nvSpPr>
          <p:cNvPr id="105" name="Google Shape;105;p2"/>
          <p:cNvSpPr txBox="1"/>
          <p:nvPr/>
        </p:nvSpPr>
        <p:spPr>
          <a:xfrm>
            <a:off x="609600" y="1524000"/>
            <a:ext cx="10972800" cy="51273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1200"/>
              </a:spcBef>
              <a:spcAft>
                <a:spcPts val="0"/>
              </a:spcAft>
              <a:buClr>
                <a:schemeClr val="dk1"/>
              </a:buClr>
              <a:buSzPts val="1100"/>
              <a:buFont typeface="Arial"/>
              <a:buNone/>
            </a:pPr>
            <a:r>
              <a:rPr b="1" lang="en-IN" sz="1800">
                <a:solidFill>
                  <a:schemeClr val="dk1"/>
                </a:solidFill>
                <a:latin typeface="Calibri"/>
                <a:ea typeface="Calibri"/>
                <a:cs typeface="Calibri"/>
                <a:sym typeface="Calibri"/>
              </a:rPr>
              <a:t>Why this theme — Productivity + GenAI Research</a:t>
            </a:r>
            <a:r>
              <a:rPr lang="en-IN" sz="1800">
                <a:solidFill>
                  <a:schemeClr val="dk1"/>
                </a:solidFill>
                <a:latin typeface="Calibri"/>
                <a:ea typeface="Calibri"/>
                <a:cs typeface="Calibri"/>
                <a:sym typeface="Calibri"/>
              </a:rPr>
              <a:t> India's 450 million informal workers are productive — they earn, they pay bills, they transfer money via UPI every month. But that productivity is invisible to the financial system. GenAI can now read those digital breadcrumbs and turn them into structured proof.</a:t>
            </a:r>
            <a:endParaRPr sz="1800">
              <a:solidFill>
                <a:schemeClr val="dk1"/>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b="1" lang="en-IN" sz="1800">
                <a:solidFill>
                  <a:schemeClr val="dk1"/>
                </a:solidFill>
                <a:latin typeface="Calibri"/>
                <a:ea typeface="Calibri"/>
                <a:cs typeface="Calibri"/>
                <a:sym typeface="Calibri"/>
              </a:rPr>
              <a:t>What problem are you solving</a:t>
            </a:r>
            <a:r>
              <a:rPr lang="en-IN" sz="1800">
                <a:solidFill>
                  <a:schemeClr val="dk1"/>
                </a:solidFill>
                <a:latin typeface="Calibri"/>
                <a:ea typeface="Calibri"/>
                <a:cs typeface="Calibri"/>
                <a:sym typeface="Calibri"/>
              </a:rPr>
              <a:t> Informal workers (gig workers, freelancers, street vendors, domestic workers) can't access loans or credit because they have no payslips or bank salary credits. Their income exists — it just lives in UPI screenshots, rent receipts, and utility bills that no bank will accept.</a:t>
            </a:r>
            <a:endParaRPr sz="1800">
              <a:solidFill>
                <a:schemeClr val="dk1"/>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b="1" lang="en-IN" sz="1800">
                <a:solidFill>
                  <a:schemeClr val="dk1"/>
                </a:solidFill>
                <a:latin typeface="Calibri"/>
                <a:ea typeface="Calibri"/>
                <a:cs typeface="Calibri"/>
                <a:sym typeface="Calibri"/>
              </a:rPr>
              <a:t>Who faces it — Persona</a:t>
            </a:r>
            <a:r>
              <a:rPr lang="en-IN" sz="1800">
                <a:solidFill>
                  <a:schemeClr val="dk1"/>
                </a:solidFill>
                <a:latin typeface="Calibri"/>
                <a:ea typeface="Calibri"/>
                <a:cs typeface="Calibri"/>
                <a:sym typeface="Calibri"/>
              </a:rPr>
              <a:t> Ravi, 34, delivery partner in Bengaluru. Earns ₹18,000/month across PhonePe payments from 3 different employers. Needs a ₹50,000 loan for his daughter's school fees. Gets rejected — "no proof of income."</a:t>
            </a:r>
            <a:endParaRPr sz="1800">
              <a:solidFill>
                <a:schemeClr val="dk1"/>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b="1" lang="en-IN" sz="1800">
                <a:solidFill>
                  <a:schemeClr val="dk1"/>
                </a:solidFill>
                <a:latin typeface="Calibri"/>
                <a:ea typeface="Calibri"/>
                <a:cs typeface="Calibri"/>
                <a:sym typeface="Calibri"/>
              </a:rPr>
              <a:t>Why it matters</a:t>
            </a:r>
            <a:r>
              <a:rPr lang="en-IN" sz="1800">
                <a:solidFill>
                  <a:schemeClr val="dk1"/>
                </a:solidFill>
                <a:latin typeface="Calibri"/>
                <a:ea typeface="Calibri"/>
                <a:cs typeface="Calibri"/>
                <a:sym typeface="Calibri"/>
              </a:rPr>
              <a:t> 450M informal workers = 80% of India's workforce. Less than 5% have access to formal credit. This isn't a niche problem — it's the biggest financial exclusion gap in the world's 5th largest economy.</a:t>
            </a:r>
            <a:endParaRPr sz="1800">
              <a:solidFill>
                <a:schemeClr val="dk1"/>
              </a:solidFill>
              <a:latin typeface="Calibri"/>
              <a:ea typeface="Calibri"/>
              <a:cs typeface="Calibri"/>
              <a:sym typeface="Calibri"/>
            </a:endParaRPr>
          </a:p>
          <a:p>
            <a:pPr indent="0" lvl="0" marL="0" rtl="0" algn="just">
              <a:lnSpc>
                <a:spcPct val="115000"/>
              </a:lnSpc>
              <a:spcBef>
                <a:spcPts val="1200"/>
              </a:spcBef>
              <a:spcAft>
                <a:spcPts val="1200"/>
              </a:spcAft>
              <a:buSzPts val="1100"/>
              <a:buNone/>
            </a:pPr>
            <a:r>
              <a:rPr b="1" lang="en-IN" sz="1800">
                <a:solidFill>
                  <a:schemeClr val="dk1"/>
                </a:solidFill>
                <a:latin typeface="Calibri"/>
                <a:ea typeface="Calibri"/>
                <a:cs typeface="Calibri"/>
                <a:sym typeface="Calibri"/>
              </a:rPr>
              <a:t>The insight</a:t>
            </a:r>
            <a:r>
              <a:rPr lang="en-IN" sz="1800">
                <a:solidFill>
                  <a:schemeClr val="dk1"/>
                </a:solidFill>
                <a:latin typeface="Calibri"/>
                <a:ea typeface="Calibri"/>
                <a:cs typeface="Calibri"/>
                <a:sym typeface="Calibri"/>
              </a:rPr>
              <a:t> They already have proof. It's just not in a format banks recognise. KamaaiProof converts their existing digital payment trail into a verifiable Work Passport — using Groq Vision + LLaMA 4 + OpenClaw to extract, score, and certify income consistency.</a:t>
            </a:r>
            <a:endParaRPr sz="1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14" name="Google Shape;114;p3"/>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Current Solution &amp; Gaps</a:t>
            </a:r>
            <a:endParaRPr sz="4267">
              <a:solidFill>
                <a:schemeClr val="dk1"/>
              </a:solidFill>
              <a:latin typeface="Calibri"/>
              <a:ea typeface="Calibri"/>
              <a:cs typeface="Calibri"/>
              <a:sym typeface="Calibri"/>
            </a:endParaRPr>
          </a:p>
        </p:txBody>
      </p:sp>
      <p:sp>
        <p:nvSpPr>
          <p:cNvPr id="115" name="Google Shape;115;p3"/>
          <p:cNvSpPr txBox="1"/>
          <p:nvPr/>
        </p:nvSpPr>
        <p:spPr>
          <a:xfrm>
            <a:off x="740500" y="1524000"/>
            <a:ext cx="10972800" cy="55059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1200"/>
              </a:spcBef>
              <a:spcAft>
                <a:spcPts val="0"/>
              </a:spcAft>
              <a:buClr>
                <a:schemeClr val="dk1"/>
              </a:buClr>
              <a:buSzPts val="1100"/>
              <a:buFont typeface="Arial"/>
              <a:buNone/>
            </a:pPr>
            <a:r>
              <a:rPr b="1" lang="en-IN">
                <a:solidFill>
                  <a:schemeClr val="dk1"/>
                </a:solidFill>
                <a:latin typeface="Calibri"/>
                <a:ea typeface="Calibri"/>
                <a:cs typeface="Calibri"/>
                <a:sym typeface="Calibri"/>
              </a:rPr>
              <a:t>Existing Solutions</a:t>
            </a:r>
            <a:endParaRPr b="1">
              <a:solidFill>
                <a:schemeClr val="dk1"/>
              </a:solidFill>
              <a:latin typeface="Calibri"/>
              <a:ea typeface="Calibri"/>
              <a:cs typeface="Calibri"/>
              <a:sym typeface="Calibri"/>
            </a:endParaRPr>
          </a:p>
          <a:p>
            <a:pPr indent="-317500" lvl="0" marL="457200" rtl="0" algn="just">
              <a:lnSpc>
                <a:spcPct val="115000"/>
              </a:lnSpc>
              <a:spcBef>
                <a:spcPts val="1200"/>
              </a:spcBef>
              <a:spcAft>
                <a:spcPts val="0"/>
              </a:spcAft>
              <a:buClr>
                <a:schemeClr val="dk1"/>
              </a:buClr>
              <a:buSzPts val="1400"/>
              <a:buFont typeface="Calibri"/>
              <a:buChar char="●"/>
            </a:pPr>
            <a:r>
              <a:rPr lang="en-IN">
                <a:solidFill>
                  <a:schemeClr val="dk1"/>
                </a:solidFill>
                <a:latin typeface="Calibri"/>
                <a:ea typeface="Calibri"/>
                <a:cs typeface="Calibri"/>
                <a:sym typeface="Calibri"/>
              </a:rPr>
              <a:t>CIBIL / credit bureaus — only work if you have formal salary credits into a bank account</a:t>
            </a:r>
            <a:endParaRPr>
              <a:solidFill>
                <a:schemeClr val="dk1"/>
              </a:solidFill>
              <a:latin typeface="Calibri"/>
              <a:ea typeface="Calibri"/>
              <a:cs typeface="Calibri"/>
              <a:sym typeface="Calibri"/>
            </a:endParaRPr>
          </a:p>
          <a:p>
            <a:pPr indent="-317500" lvl="0" marL="457200" rtl="0" algn="just">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NBFC manual underwriting — loan officer visits home, takes 2–3 weeks, still rejects most</a:t>
            </a:r>
            <a:endParaRPr>
              <a:solidFill>
                <a:schemeClr val="dk1"/>
              </a:solidFill>
              <a:latin typeface="Calibri"/>
              <a:ea typeface="Calibri"/>
              <a:cs typeface="Calibri"/>
              <a:sym typeface="Calibri"/>
            </a:endParaRPr>
          </a:p>
          <a:p>
            <a:pPr indent="-317500" lvl="0" marL="457200" rtl="0" algn="just">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Account aggregator (AA) framework — exists but requires bank account + consent flow, excludes cash/UPI-heavy workers</a:t>
            </a:r>
            <a:endParaRPr>
              <a:solidFill>
                <a:schemeClr val="dk1"/>
              </a:solidFill>
              <a:latin typeface="Calibri"/>
              <a:ea typeface="Calibri"/>
              <a:cs typeface="Calibri"/>
              <a:sym typeface="Calibri"/>
            </a:endParaRPr>
          </a:p>
          <a:p>
            <a:pPr indent="-317500" lvl="0" marL="457200" rtl="0" algn="just">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Aadhaar-based eKYC — proves identity, not income</a:t>
            </a:r>
            <a:endParaRPr>
              <a:solidFill>
                <a:schemeClr val="dk1"/>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b="1" lang="en-IN">
                <a:solidFill>
                  <a:schemeClr val="dk1"/>
                </a:solidFill>
                <a:latin typeface="Calibri"/>
                <a:ea typeface="Calibri"/>
                <a:cs typeface="Calibri"/>
                <a:sym typeface="Calibri"/>
              </a:rPr>
              <a:t>What's Missing / Broken</a:t>
            </a:r>
            <a:endParaRPr b="1">
              <a:solidFill>
                <a:schemeClr val="dk1"/>
              </a:solidFill>
              <a:latin typeface="Calibri"/>
              <a:ea typeface="Calibri"/>
              <a:cs typeface="Calibri"/>
              <a:sym typeface="Calibri"/>
            </a:endParaRPr>
          </a:p>
          <a:p>
            <a:pPr indent="-317500" lvl="0" marL="457200" rtl="0" algn="just">
              <a:lnSpc>
                <a:spcPct val="115000"/>
              </a:lnSpc>
              <a:spcBef>
                <a:spcPts val="1200"/>
              </a:spcBef>
              <a:spcAft>
                <a:spcPts val="0"/>
              </a:spcAft>
              <a:buClr>
                <a:schemeClr val="dk1"/>
              </a:buClr>
              <a:buSzPts val="1400"/>
              <a:buFont typeface="Calibri"/>
              <a:buChar char="●"/>
            </a:pPr>
            <a:r>
              <a:rPr lang="en-IN">
                <a:solidFill>
                  <a:schemeClr val="dk1"/>
                </a:solidFill>
                <a:latin typeface="Calibri"/>
                <a:ea typeface="Calibri"/>
                <a:cs typeface="Calibri"/>
                <a:sym typeface="Calibri"/>
              </a:rPr>
              <a:t>No solution reads UPI screenshots, rent receipts, or utility bills as income proof</a:t>
            </a:r>
            <a:endParaRPr>
              <a:solidFill>
                <a:schemeClr val="dk1"/>
              </a:solidFill>
              <a:latin typeface="Calibri"/>
              <a:ea typeface="Calibri"/>
              <a:cs typeface="Calibri"/>
              <a:sym typeface="Calibri"/>
            </a:endParaRPr>
          </a:p>
          <a:p>
            <a:pPr indent="-317500" lvl="0" marL="457200" rtl="0" algn="just">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All existing tools require a formal bank salary credit — the exact thing informal workers don't have</a:t>
            </a:r>
            <a:endParaRPr>
              <a:solidFill>
                <a:schemeClr val="dk1"/>
              </a:solidFill>
              <a:latin typeface="Calibri"/>
              <a:ea typeface="Calibri"/>
              <a:cs typeface="Calibri"/>
              <a:sym typeface="Calibri"/>
            </a:endParaRPr>
          </a:p>
          <a:p>
            <a:pPr indent="-317500" lvl="0" marL="457200" rtl="0" algn="just">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Account aggregator needs the payer to also be a registered entity — doesn't work for individual-to-individual payments</a:t>
            </a:r>
            <a:endParaRPr>
              <a:solidFill>
                <a:schemeClr val="dk1"/>
              </a:solidFill>
              <a:latin typeface="Calibri"/>
              <a:ea typeface="Calibri"/>
              <a:cs typeface="Calibri"/>
              <a:sym typeface="Calibri"/>
            </a:endParaRPr>
          </a:p>
          <a:p>
            <a:pPr indent="-317500" lvl="0" marL="457200" rtl="0" algn="just">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Manual processes are slow, biased, and don't scale</a:t>
            </a:r>
            <a:endParaRPr>
              <a:solidFill>
                <a:schemeClr val="dk1"/>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b="1" lang="en-IN">
                <a:solidFill>
                  <a:schemeClr val="dk1"/>
                </a:solidFill>
                <a:latin typeface="Calibri"/>
                <a:ea typeface="Calibri"/>
                <a:cs typeface="Calibri"/>
                <a:sym typeface="Calibri"/>
              </a:rPr>
              <a:t>The Opportunity</a:t>
            </a:r>
            <a:endParaRPr b="1">
              <a:solidFill>
                <a:schemeClr val="dk1"/>
              </a:solidFill>
              <a:latin typeface="Calibri"/>
              <a:ea typeface="Calibri"/>
              <a:cs typeface="Calibri"/>
              <a:sym typeface="Calibri"/>
            </a:endParaRPr>
          </a:p>
          <a:p>
            <a:pPr indent="-317500" lvl="0" marL="457200" rtl="0" algn="just">
              <a:lnSpc>
                <a:spcPct val="115000"/>
              </a:lnSpc>
              <a:spcBef>
                <a:spcPts val="1200"/>
              </a:spcBef>
              <a:spcAft>
                <a:spcPts val="0"/>
              </a:spcAft>
              <a:buClr>
                <a:schemeClr val="dk1"/>
              </a:buClr>
              <a:buSzPts val="1400"/>
              <a:buFont typeface="Calibri"/>
              <a:buChar char="●"/>
            </a:pPr>
            <a:r>
              <a:rPr lang="en-IN">
                <a:solidFill>
                  <a:schemeClr val="dk1"/>
                </a:solidFill>
                <a:latin typeface="Calibri"/>
                <a:ea typeface="Calibri"/>
                <a:cs typeface="Calibri"/>
                <a:sym typeface="Calibri"/>
              </a:rPr>
              <a:t>450M informal workers, &lt;5% have formal credit access</a:t>
            </a:r>
            <a:endParaRPr>
              <a:solidFill>
                <a:schemeClr val="dk1"/>
              </a:solidFill>
              <a:latin typeface="Calibri"/>
              <a:ea typeface="Calibri"/>
              <a:cs typeface="Calibri"/>
              <a:sym typeface="Calibri"/>
            </a:endParaRPr>
          </a:p>
          <a:p>
            <a:pPr indent="-317500" lvl="0" marL="457200" rtl="0" algn="just">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UPI hit 18 billion transactions in March 2026 — most of that is informal economy money moving around with zero financial record attached</a:t>
            </a:r>
            <a:endParaRPr>
              <a:solidFill>
                <a:schemeClr val="dk1"/>
              </a:solidFill>
              <a:latin typeface="Calibri"/>
              <a:ea typeface="Calibri"/>
              <a:cs typeface="Calibri"/>
              <a:sym typeface="Calibri"/>
            </a:endParaRPr>
          </a:p>
          <a:p>
            <a:pPr indent="-317500" lvl="0" marL="457200" rtl="0" algn="just">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RBI's push for financial inclusion + OCEN (Open Credit Enablement Network) creates a policy tailwind — they need exactly this kind of income signal layer</a:t>
            </a:r>
            <a:endParaRPr>
              <a:solidFill>
                <a:schemeClr val="dk1"/>
              </a:solidFill>
              <a:latin typeface="Calibri"/>
              <a:ea typeface="Calibri"/>
              <a:cs typeface="Calibri"/>
              <a:sym typeface="Calibri"/>
            </a:endParaRPr>
          </a:p>
          <a:p>
            <a:pPr indent="-317500" lvl="0" marL="457200" rtl="0" algn="just">
              <a:lnSpc>
                <a:spcPct val="115000"/>
              </a:lnSpc>
              <a:spcBef>
                <a:spcPts val="0"/>
              </a:spcBef>
              <a:spcAft>
                <a:spcPts val="0"/>
              </a:spcAft>
              <a:buClr>
                <a:schemeClr val="dk1"/>
              </a:buClr>
              <a:buSzPts val="1400"/>
              <a:buFont typeface="Calibri"/>
              <a:buChar char="●"/>
            </a:pPr>
            <a:r>
              <a:rPr lang="en-IN">
                <a:solidFill>
                  <a:schemeClr val="dk1"/>
                </a:solidFill>
                <a:latin typeface="Calibri"/>
                <a:ea typeface="Calibri"/>
                <a:cs typeface="Calibri"/>
                <a:sym typeface="Calibri"/>
              </a:rPr>
              <a:t>First mover to create a portable, verifiable, AI-generated income passport for informal workers owns the trust layer between this workforce and formal credit</a:t>
            </a:r>
            <a:endParaRPr>
              <a:solidFill>
                <a:schemeClr val="dk1"/>
              </a:solidFill>
              <a:latin typeface="Calibri"/>
              <a:ea typeface="Calibri"/>
              <a:cs typeface="Calibri"/>
              <a:sym typeface="Calibri"/>
            </a:endParaRPr>
          </a:p>
          <a:p>
            <a:pPr indent="0" lvl="0" marL="0" marR="0" rtl="0" algn="just">
              <a:spcBef>
                <a:spcPts val="120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24" name="Google Shape;124;p4"/>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Your Solutions</a:t>
            </a:r>
            <a:endParaRPr sz="4267">
              <a:solidFill>
                <a:schemeClr val="dk1"/>
              </a:solidFill>
              <a:latin typeface="Calibri"/>
              <a:ea typeface="Calibri"/>
              <a:cs typeface="Calibri"/>
              <a:sym typeface="Calibri"/>
            </a:endParaRPr>
          </a:p>
        </p:txBody>
      </p:sp>
      <p:sp>
        <p:nvSpPr>
          <p:cNvPr id="125" name="Google Shape;125;p4"/>
          <p:cNvSpPr txBox="1"/>
          <p:nvPr/>
        </p:nvSpPr>
        <p:spPr>
          <a:xfrm>
            <a:off x="740500" y="1682950"/>
            <a:ext cx="10358400" cy="52203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1200"/>
              </a:spcBef>
              <a:spcAft>
                <a:spcPts val="0"/>
              </a:spcAft>
              <a:buClr>
                <a:schemeClr val="dk1"/>
              </a:buClr>
              <a:buSzPts val="1100"/>
              <a:buFont typeface="Arial"/>
              <a:buNone/>
            </a:pPr>
            <a:r>
              <a:rPr b="1" lang="en-IN" sz="1700">
                <a:solidFill>
                  <a:schemeClr val="dk1"/>
                </a:solidFill>
                <a:latin typeface="Calibri"/>
                <a:ea typeface="Calibri"/>
                <a:cs typeface="Calibri"/>
                <a:sym typeface="Calibri"/>
              </a:rPr>
              <a:t>What We Built</a:t>
            </a:r>
            <a:endParaRPr b="1" sz="1700">
              <a:solidFill>
                <a:schemeClr val="dk1"/>
              </a:solidFill>
              <a:latin typeface="Calibri"/>
              <a:ea typeface="Calibri"/>
              <a:cs typeface="Calibri"/>
              <a:sym typeface="Calibri"/>
            </a:endParaRPr>
          </a:p>
          <a:p>
            <a:pPr indent="0" lvl="0" marL="0" rtl="0" algn="just">
              <a:lnSpc>
                <a:spcPct val="115000"/>
              </a:lnSpc>
              <a:spcBef>
                <a:spcPts val="1200"/>
              </a:spcBef>
              <a:spcAft>
                <a:spcPts val="0"/>
              </a:spcAft>
              <a:buSzPts val="1100"/>
              <a:buNone/>
            </a:pPr>
            <a:r>
              <a:rPr lang="en-IN" sz="1600">
                <a:solidFill>
                  <a:schemeClr val="dk1"/>
                </a:solidFill>
                <a:latin typeface="Calibri"/>
                <a:ea typeface="Calibri"/>
                <a:cs typeface="Calibri"/>
                <a:sym typeface="Calibri"/>
              </a:rPr>
              <a:t>KamaaiProof is an AI-powered income verification engine. A worker uploads their UPI screenshots, utility bills, and rent receipts. The system reads them using Groq Vision + LLaMA 4 Scout + Openclaw, extracts structured financial data, scores income consistency over 6 months, and generates a signed Work Passport PDF that an MFI or lender can actually trust.</a:t>
            </a:r>
            <a:endParaRPr sz="2000">
              <a:solidFill>
                <a:schemeClr val="dk1"/>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b="1" lang="en-IN" sz="1600">
                <a:solidFill>
                  <a:schemeClr val="dk1"/>
                </a:solidFill>
                <a:latin typeface="Calibri"/>
                <a:ea typeface="Calibri"/>
                <a:cs typeface="Calibri"/>
                <a:sym typeface="Calibri"/>
              </a:rPr>
              <a:t>Core Ideas Explained</a:t>
            </a:r>
            <a:endParaRPr b="1" sz="1600">
              <a:solidFill>
                <a:schemeClr val="dk1"/>
              </a:solidFill>
              <a:latin typeface="Calibri"/>
              <a:ea typeface="Calibri"/>
              <a:cs typeface="Calibri"/>
              <a:sym typeface="Calibri"/>
            </a:endParaRPr>
          </a:p>
          <a:p>
            <a:pPr indent="-330200" lvl="0" marL="457200" rtl="0" algn="just">
              <a:lnSpc>
                <a:spcPct val="115000"/>
              </a:lnSpc>
              <a:spcBef>
                <a:spcPts val="1200"/>
              </a:spcBef>
              <a:spcAft>
                <a:spcPts val="0"/>
              </a:spcAft>
              <a:buClr>
                <a:schemeClr val="dk1"/>
              </a:buClr>
              <a:buSzPts val="1600"/>
              <a:buChar char="●"/>
            </a:pPr>
            <a:r>
              <a:rPr b="1" lang="en-IN" sz="1600">
                <a:solidFill>
                  <a:schemeClr val="dk1"/>
                </a:solidFill>
                <a:latin typeface="Calibri"/>
                <a:ea typeface="Calibri"/>
                <a:cs typeface="Calibri"/>
                <a:sym typeface="Calibri"/>
              </a:rPr>
              <a:t>Vision-First Extraction</a:t>
            </a:r>
            <a:r>
              <a:rPr lang="en-IN" sz="1600">
                <a:solidFill>
                  <a:schemeClr val="dk1"/>
                </a:solidFill>
                <a:latin typeface="Calibri"/>
                <a:ea typeface="Calibri"/>
                <a:cs typeface="Calibri"/>
                <a:sym typeface="Calibri"/>
              </a:rPr>
              <a:t> — The image goes directly to LLaMA 4 Scout which identifies the document type (GPay, PhonePe, BHIM, electricity bill, rent receipt) and extracts fields in one shot. Handles handwritten receipts, blurry screenshots, mixed languages.</a:t>
            </a:r>
            <a:endParaRPr sz="1600">
              <a:solidFill>
                <a:schemeClr val="dk1"/>
              </a:solidFill>
              <a:latin typeface="Calibri"/>
              <a:ea typeface="Calibri"/>
              <a:cs typeface="Calibri"/>
              <a:sym typeface="Calibri"/>
            </a:endParaRPr>
          </a:p>
          <a:p>
            <a:pPr indent="-330200" lvl="0" marL="457200" rtl="0" algn="just">
              <a:lnSpc>
                <a:spcPct val="115000"/>
              </a:lnSpc>
              <a:spcBef>
                <a:spcPts val="0"/>
              </a:spcBef>
              <a:spcAft>
                <a:spcPts val="0"/>
              </a:spcAft>
              <a:buClr>
                <a:schemeClr val="dk1"/>
              </a:buClr>
              <a:buSzPts val="1600"/>
              <a:buChar char="●"/>
            </a:pPr>
            <a:r>
              <a:rPr b="1" lang="en-IN" sz="1600">
                <a:solidFill>
                  <a:schemeClr val="dk1"/>
                </a:solidFill>
                <a:latin typeface="Calibri"/>
                <a:ea typeface="Calibri"/>
                <a:cs typeface="Calibri"/>
                <a:sym typeface="Calibri"/>
              </a:rPr>
              <a:t>Consistency Scoring</a:t>
            </a:r>
            <a:r>
              <a:rPr lang="en-IN" sz="1600">
                <a:solidFill>
                  <a:schemeClr val="dk1"/>
                </a:solidFill>
                <a:latin typeface="Calibri"/>
                <a:ea typeface="Calibri"/>
                <a:cs typeface="Calibri"/>
                <a:sym typeface="Calibri"/>
              </a:rPr>
              <a:t> — Not just "did they earn money" but "did they earn consistently." A 6-month rolling window scores coverage (70 points) and income stability (30 points). A gig worker with ₹15k every month scores higher than someone with one ₹90k spike</a:t>
            </a:r>
            <a:endParaRPr sz="1600">
              <a:solidFill>
                <a:schemeClr val="dk1"/>
              </a:solidFill>
              <a:latin typeface="Calibri"/>
              <a:ea typeface="Calibri"/>
              <a:cs typeface="Calibri"/>
              <a:sym typeface="Calibri"/>
            </a:endParaRPr>
          </a:p>
          <a:p>
            <a:pPr indent="-330200" lvl="0" marL="457200" rtl="0" algn="just">
              <a:lnSpc>
                <a:spcPct val="115000"/>
              </a:lnSpc>
              <a:spcBef>
                <a:spcPts val="0"/>
              </a:spcBef>
              <a:spcAft>
                <a:spcPts val="0"/>
              </a:spcAft>
              <a:buClr>
                <a:schemeClr val="dk1"/>
              </a:buClr>
              <a:buSzPts val="1600"/>
              <a:buChar char="●"/>
            </a:pPr>
            <a:r>
              <a:rPr b="1" lang="en-IN" sz="1600">
                <a:solidFill>
                  <a:schemeClr val="dk1"/>
                </a:solidFill>
                <a:latin typeface="Calibri"/>
                <a:ea typeface="Calibri"/>
                <a:cs typeface="Calibri"/>
                <a:sym typeface="Calibri"/>
              </a:rPr>
              <a:t>Privacy-First Pipeline</a:t>
            </a:r>
            <a:r>
              <a:rPr lang="en-IN" sz="1600">
                <a:solidFill>
                  <a:schemeClr val="dk1"/>
                </a:solidFill>
                <a:latin typeface="Calibri"/>
                <a:ea typeface="Calibri"/>
                <a:cs typeface="Calibri"/>
                <a:sym typeface="Calibri"/>
              </a:rPr>
              <a:t> — PII (names, UPI IDs, phone numbers, account numbers) is masked before anything is stored or indexed. The Work Passport shows financial behaviour, not personal data.</a:t>
            </a:r>
            <a:endParaRPr sz="1600">
              <a:solidFill>
                <a:schemeClr val="dk1"/>
              </a:solidFill>
              <a:latin typeface="Calibri"/>
              <a:ea typeface="Calibri"/>
              <a:cs typeface="Calibri"/>
              <a:sym typeface="Calibri"/>
            </a:endParaRPr>
          </a:p>
          <a:p>
            <a:pPr indent="-330200" lvl="0" marL="457200" rtl="0" algn="just">
              <a:lnSpc>
                <a:spcPct val="115000"/>
              </a:lnSpc>
              <a:spcBef>
                <a:spcPts val="0"/>
              </a:spcBef>
              <a:spcAft>
                <a:spcPts val="0"/>
              </a:spcAft>
              <a:buClr>
                <a:schemeClr val="dk1"/>
              </a:buClr>
              <a:buSzPts val="1600"/>
              <a:buChar char="●"/>
            </a:pPr>
            <a:r>
              <a:rPr b="1" lang="en-IN" sz="1600">
                <a:solidFill>
                  <a:schemeClr val="dk1"/>
                </a:solidFill>
                <a:latin typeface="Calibri"/>
                <a:ea typeface="Calibri"/>
                <a:cs typeface="Calibri"/>
                <a:sym typeface="Calibri"/>
              </a:rPr>
              <a:t>Work Passport PDF</a:t>
            </a:r>
            <a:r>
              <a:rPr lang="en-IN" sz="1600">
                <a:solidFill>
                  <a:schemeClr val="dk1"/>
                </a:solidFill>
                <a:latin typeface="Calibri"/>
                <a:ea typeface="Calibri"/>
                <a:cs typeface="Calibri"/>
                <a:sym typeface="Calibri"/>
              </a:rPr>
              <a:t> — A structured, dated, scored document a loan officer can read in 30 seconds. Consistency score, monthly income breakdown, months covered, flags for anomalies.</a:t>
            </a:r>
            <a:endParaRPr sz="1600">
              <a:solidFill>
                <a:schemeClr val="dk1"/>
              </a:solidFill>
              <a:latin typeface="Calibri"/>
              <a:ea typeface="Calibri"/>
              <a:cs typeface="Calibri"/>
              <a:sym typeface="Calibri"/>
            </a:endParaRPr>
          </a:p>
          <a:p>
            <a:pPr indent="0" lvl="0" marL="0" marR="0" rtl="0" algn="just">
              <a:spcBef>
                <a:spcPts val="1200"/>
              </a:spcBef>
              <a:spcAft>
                <a:spcPts val="0"/>
              </a:spcAft>
              <a:buNone/>
            </a:pPr>
            <a:r>
              <a:t/>
            </a:r>
            <a:endParaRPr sz="16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e7c6fae0b2_1_4"/>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e7c6fae0b2_1_4"/>
          <p:cNvSpPr/>
          <p:nvPr/>
        </p:nvSpPr>
        <p:spPr>
          <a:xfrm>
            <a:off x="609600" y="219456"/>
            <a:ext cx="19506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e7c6fae0b2_1_4"/>
          <p:cNvSpPr/>
          <p:nvPr/>
        </p:nvSpPr>
        <p:spPr>
          <a:xfrm>
            <a:off x="609600" y="219456"/>
            <a:ext cx="1950600" cy="34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34" name="Google Shape;134;g3e7c6fae0b2_1_4"/>
          <p:cNvSpPr/>
          <p:nvPr/>
        </p:nvSpPr>
        <p:spPr>
          <a:xfrm>
            <a:off x="609600" y="670560"/>
            <a:ext cx="10972800" cy="85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Your Solutions</a:t>
            </a:r>
            <a:endParaRPr sz="4267">
              <a:solidFill>
                <a:schemeClr val="dk1"/>
              </a:solidFill>
              <a:latin typeface="Calibri"/>
              <a:ea typeface="Calibri"/>
              <a:cs typeface="Calibri"/>
              <a:sym typeface="Calibri"/>
            </a:endParaRPr>
          </a:p>
        </p:txBody>
      </p:sp>
      <p:sp>
        <p:nvSpPr>
          <p:cNvPr id="135" name="Google Shape;135;g3e7c6fae0b2_1_4"/>
          <p:cNvSpPr txBox="1"/>
          <p:nvPr/>
        </p:nvSpPr>
        <p:spPr>
          <a:xfrm>
            <a:off x="740500" y="1524050"/>
            <a:ext cx="10358400" cy="5669100"/>
          </a:xfrm>
          <a:prstGeom prst="rect">
            <a:avLst/>
          </a:prstGeom>
          <a:noFill/>
          <a:ln>
            <a:noFill/>
          </a:ln>
        </p:spPr>
        <p:txBody>
          <a:bodyPr anchorCtr="0" anchor="t" bIns="45700" lIns="91425" spcFirstLastPara="1" rIns="91425" wrap="square" tIns="45700">
            <a:spAutoFit/>
          </a:bodyPr>
          <a:lstStyle/>
          <a:p>
            <a:pPr indent="0" lvl="0" marL="0" rtl="0" algn="just">
              <a:lnSpc>
                <a:spcPct val="115000"/>
              </a:lnSpc>
              <a:spcBef>
                <a:spcPts val="1200"/>
              </a:spcBef>
              <a:spcAft>
                <a:spcPts val="0"/>
              </a:spcAft>
              <a:buNone/>
            </a:pPr>
            <a:r>
              <a:rPr b="1" lang="en-IN" sz="1300">
                <a:solidFill>
                  <a:schemeClr val="dk1"/>
                </a:solidFill>
                <a:latin typeface="Calibri"/>
                <a:ea typeface="Calibri"/>
                <a:cs typeface="Calibri"/>
                <a:sym typeface="Calibri"/>
              </a:rPr>
              <a:t>Key Features</a:t>
            </a:r>
            <a:endParaRPr b="1" sz="1300">
              <a:solidFill>
                <a:schemeClr val="dk1"/>
              </a:solidFill>
              <a:latin typeface="Calibri"/>
              <a:ea typeface="Calibri"/>
              <a:cs typeface="Calibri"/>
              <a:sym typeface="Calibri"/>
            </a:endParaRPr>
          </a:p>
          <a:p>
            <a:pPr indent="-342900" lvl="0" marL="457200" rtl="0" algn="just">
              <a:lnSpc>
                <a:spcPct val="115000"/>
              </a:lnSpc>
              <a:spcBef>
                <a:spcPts val="1200"/>
              </a:spcBef>
              <a:spcAft>
                <a:spcPts val="0"/>
              </a:spcAft>
              <a:buClr>
                <a:schemeClr val="dk1"/>
              </a:buClr>
              <a:buSzPts val="1800"/>
              <a:buChar char="●"/>
            </a:pPr>
            <a:r>
              <a:rPr b="1" lang="en-IN" sz="1300">
                <a:solidFill>
                  <a:schemeClr val="dk1"/>
                </a:solidFill>
                <a:latin typeface="Calibri"/>
                <a:ea typeface="Calibri"/>
                <a:cs typeface="Calibri"/>
                <a:sym typeface="Calibri"/>
              </a:rPr>
              <a:t> Multi-format Document Upload</a:t>
            </a:r>
            <a:r>
              <a:rPr lang="en-IN" sz="1300">
                <a:solidFill>
                  <a:schemeClr val="dk1"/>
                </a:solidFill>
                <a:latin typeface="Calibri"/>
                <a:ea typeface="Calibri"/>
                <a:cs typeface="Calibri"/>
                <a:sym typeface="Calibri"/>
              </a:rPr>
              <a:t> Drop any mix of UPI screenshots (GPay, PhonePe, BHIM), electricity bills, water bills, rent receipts — jpeg, png, pdf. No fixed template, no "please upload in this exact format." The system figures it out.</a:t>
            </a:r>
            <a:endParaRPr sz="1300">
              <a:solidFill>
                <a:schemeClr val="dk1"/>
              </a:solidFill>
              <a:latin typeface="Calibri"/>
              <a:ea typeface="Calibri"/>
              <a:cs typeface="Calibri"/>
              <a:sym typeface="Calibri"/>
            </a:endParaRPr>
          </a:p>
          <a:p>
            <a:pPr indent="-342900" lvl="0" marL="457200" rtl="0" algn="just">
              <a:lnSpc>
                <a:spcPct val="115000"/>
              </a:lnSpc>
              <a:spcBef>
                <a:spcPts val="0"/>
              </a:spcBef>
              <a:spcAft>
                <a:spcPts val="0"/>
              </a:spcAft>
              <a:buClr>
                <a:schemeClr val="dk1"/>
              </a:buClr>
              <a:buSzPts val="1800"/>
              <a:buChar char="●"/>
            </a:pPr>
            <a:r>
              <a:rPr b="1" lang="en-IN" sz="1300">
                <a:solidFill>
                  <a:schemeClr val="dk1"/>
                </a:solidFill>
                <a:latin typeface="Calibri"/>
                <a:ea typeface="Calibri"/>
                <a:cs typeface="Calibri"/>
                <a:sym typeface="Calibri"/>
              </a:rPr>
              <a:t> Automatic Document Classification</a:t>
            </a:r>
            <a:r>
              <a:rPr lang="en-IN" sz="1300">
                <a:solidFill>
                  <a:schemeClr val="dk1"/>
                </a:solidFill>
                <a:latin typeface="Calibri"/>
                <a:ea typeface="Calibri"/>
                <a:cs typeface="Calibri"/>
                <a:sym typeface="Calibri"/>
              </a:rPr>
              <a:t> LLaMA 4 Scout looks at the image and identifies what it is before extracting anything. A GPay screenshot gets parsed differently from a TNEB electricity bill. No manual tagging required from the worker — they just upload what they have.</a:t>
            </a:r>
            <a:endParaRPr sz="1300">
              <a:solidFill>
                <a:schemeClr val="dk1"/>
              </a:solidFill>
              <a:latin typeface="Calibri"/>
              <a:ea typeface="Calibri"/>
              <a:cs typeface="Calibri"/>
              <a:sym typeface="Calibri"/>
            </a:endParaRPr>
          </a:p>
          <a:p>
            <a:pPr indent="-342900" lvl="0" marL="457200" rtl="0" algn="just">
              <a:lnSpc>
                <a:spcPct val="115000"/>
              </a:lnSpc>
              <a:spcBef>
                <a:spcPts val="0"/>
              </a:spcBef>
              <a:spcAft>
                <a:spcPts val="0"/>
              </a:spcAft>
              <a:buClr>
                <a:schemeClr val="dk1"/>
              </a:buClr>
              <a:buSzPts val="1800"/>
              <a:buChar char="●"/>
            </a:pPr>
            <a:r>
              <a:rPr b="1" lang="en-IN" sz="1300">
                <a:solidFill>
                  <a:schemeClr val="dk1"/>
                </a:solidFill>
                <a:latin typeface="Calibri"/>
                <a:ea typeface="Calibri"/>
                <a:cs typeface="Calibri"/>
                <a:sym typeface="Calibri"/>
              </a:rPr>
              <a:t>6-Month Income Consistency Score (0–100)</a:t>
            </a:r>
            <a:r>
              <a:rPr lang="en-IN" sz="1300">
                <a:solidFill>
                  <a:schemeClr val="dk1"/>
                </a:solidFill>
                <a:latin typeface="Calibri"/>
                <a:ea typeface="Calibri"/>
                <a:cs typeface="Calibri"/>
                <a:sym typeface="Calibri"/>
              </a:rPr>
              <a:t> Two-part score — 70 points for how many of the last 6 months have income evidence, 30 points for how stable that income is month-to-month. A score of 85+ means consistent, reliable income. This single number is what an MFI loan officer needs to make a decision in under a minute.</a:t>
            </a:r>
            <a:endParaRPr sz="1300">
              <a:solidFill>
                <a:schemeClr val="dk1"/>
              </a:solidFill>
              <a:latin typeface="Calibri"/>
              <a:ea typeface="Calibri"/>
              <a:cs typeface="Calibri"/>
              <a:sym typeface="Calibri"/>
            </a:endParaRPr>
          </a:p>
          <a:p>
            <a:pPr indent="-342900" lvl="0" marL="457200" rtl="0" algn="just">
              <a:lnSpc>
                <a:spcPct val="115000"/>
              </a:lnSpc>
              <a:spcBef>
                <a:spcPts val="0"/>
              </a:spcBef>
              <a:spcAft>
                <a:spcPts val="0"/>
              </a:spcAft>
              <a:buClr>
                <a:schemeClr val="dk1"/>
              </a:buClr>
              <a:buSzPts val="1800"/>
              <a:buChar char="●"/>
            </a:pPr>
            <a:r>
              <a:rPr b="1" lang="en-IN" sz="1300">
                <a:solidFill>
                  <a:schemeClr val="dk1"/>
                </a:solidFill>
                <a:latin typeface="Calibri"/>
                <a:ea typeface="Calibri"/>
                <a:cs typeface="Calibri"/>
                <a:sym typeface="Calibri"/>
              </a:rPr>
              <a:t>Privacy-First Data Pipeline</a:t>
            </a:r>
            <a:r>
              <a:rPr lang="en-IN" sz="1300">
                <a:solidFill>
                  <a:schemeClr val="dk1"/>
                </a:solidFill>
                <a:latin typeface="Calibri"/>
                <a:ea typeface="Calibri"/>
                <a:cs typeface="Calibri"/>
                <a:sym typeface="Calibri"/>
              </a:rPr>
              <a:t> Names, phone numbers, UPI IDs, bank account numbers, IFSC codes are all stripped and masked before any data is stored or processed. The Work Passport proves income behaviour without exposing personal identity — important for a population that is already financially vulnerable.</a:t>
            </a:r>
            <a:endParaRPr sz="1300">
              <a:solidFill>
                <a:schemeClr val="dk1"/>
              </a:solidFill>
              <a:latin typeface="Calibri"/>
              <a:ea typeface="Calibri"/>
              <a:cs typeface="Calibri"/>
              <a:sym typeface="Calibri"/>
            </a:endParaRPr>
          </a:p>
          <a:p>
            <a:pPr indent="-342900" lvl="0" marL="457200" rtl="0" algn="just">
              <a:lnSpc>
                <a:spcPct val="115000"/>
              </a:lnSpc>
              <a:spcBef>
                <a:spcPts val="0"/>
              </a:spcBef>
              <a:spcAft>
                <a:spcPts val="0"/>
              </a:spcAft>
              <a:buClr>
                <a:schemeClr val="dk1"/>
              </a:buClr>
              <a:buSzPts val="1800"/>
              <a:buChar char="●"/>
            </a:pPr>
            <a:r>
              <a:rPr b="1" lang="en-IN" sz="1300">
                <a:solidFill>
                  <a:schemeClr val="dk1"/>
                </a:solidFill>
                <a:latin typeface="Calibri"/>
                <a:ea typeface="Calibri"/>
                <a:cs typeface="Calibri"/>
                <a:sym typeface="Calibri"/>
              </a:rPr>
              <a:t>Instant Work Passport PDF</a:t>
            </a:r>
            <a:r>
              <a:rPr lang="en-IN" sz="1300">
                <a:solidFill>
                  <a:schemeClr val="dk1"/>
                </a:solidFill>
                <a:latin typeface="Calibri"/>
                <a:ea typeface="Calibri"/>
                <a:cs typeface="Calibri"/>
                <a:sym typeface="Calibri"/>
              </a:rPr>
              <a:t> Generated entirely client-side using React PDF — no server roundtrip for the PDF. Contains consistency score (colour-coded), monthly income breakdown, documents submitted, flags for anomalies, and a disclaimer footer for loan officers. Download in one click.</a:t>
            </a:r>
            <a:endParaRPr sz="1300">
              <a:solidFill>
                <a:schemeClr val="dk1"/>
              </a:solidFill>
              <a:latin typeface="Calibri"/>
              <a:ea typeface="Calibri"/>
              <a:cs typeface="Calibri"/>
              <a:sym typeface="Calibri"/>
            </a:endParaRPr>
          </a:p>
          <a:p>
            <a:pPr indent="-342900" lvl="0" marL="457200" rtl="0" algn="just">
              <a:lnSpc>
                <a:spcPct val="115000"/>
              </a:lnSpc>
              <a:spcBef>
                <a:spcPts val="0"/>
              </a:spcBef>
              <a:spcAft>
                <a:spcPts val="0"/>
              </a:spcAft>
              <a:buClr>
                <a:schemeClr val="dk1"/>
              </a:buClr>
              <a:buSzPts val="1800"/>
              <a:buChar char="●"/>
            </a:pPr>
            <a:r>
              <a:rPr b="1" lang="en-IN" sz="1300">
                <a:solidFill>
                  <a:schemeClr val="dk1"/>
                </a:solidFill>
                <a:latin typeface="Calibri"/>
                <a:ea typeface="Calibri"/>
                <a:cs typeface="Calibri"/>
                <a:sym typeface="Calibri"/>
              </a:rPr>
              <a:t>Role-Based Access Control (RBAC)</a:t>
            </a:r>
            <a:r>
              <a:rPr lang="en-IN" sz="1300">
                <a:solidFill>
                  <a:schemeClr val="dk1"/>
                </a:solidFill>
                <a:latin typeface="Calibri"/>
                <a:ea typeface="Calibri"/>
                <a:cs typeface="Calibri"/>
                <a:sym typeface="Calibri"/>
              </a:rPr>
              <a:t> Workers see their full transaction breakdown. MFI officers and lenders see only the summary — score, income range, months covered. Sensitive transaction details never leave the worker's view unless they choose to share.</a:t>
            </a:r>
            <a:endParaRPr sz="1300">
              <a:solidFill>
                <a:schemeClr val="dk1"/>
              </a:solidFill>
              <a:latin typeface="Calibri"/>
              <a:ea typeface="Calibri"/>
              <a:cs typeface="Calibri"/>
              <a:sym typeface="Calibri"/>
            </a:endParaRPr>
          </a:p>
          <a:p>
            <a:pPr indent="-342900" lvl="0" marL="457200" rtl="0" algn="just">
              <a:lnSpc>
                <a:spcPct val="115000"/>
              </a:lnSpc>
              <a:spcBef>
                <a:spcPts val="0"/>
              </a:spcBef>
              <a:spcAft>
                <a:spcPts val="0"/>
              </a:spcAft>
              <a:buClr>
                <a:schemeClr val="dk1"/>
              </a:buClr>
              <a:buSzPts val="1800"/>
              <a:buChar char="●"/>
            </a:pPr>
            <a:r>
              <a:rPr b="1" lang="en-IN" sz="1300">
                <a:solidFill>
                  <a:schemeClr val="dk1"/>
                </a:solidFill>
                <a:latin typeface="Calibri"/>
                <a:ea typeface="Calibri"/>
                <a:cs typeface="Calibri"/>
                <a:sym typeface="Calibri"/>
              </a:rPr>
              <a:t>Demo Override Mode</a:t>
            </a:r>
            <a:r>
              <a:rPr lang="en-IN" sz="1300">
                <a:solidFill>
                  <a:schemeClr val="dk1"/>
                </a:solidFill>
                <a:latin typeface="Calibri"/>
                <a:ea typeface="Calibri"/>
                <a:cs typeface="Calibri"/>
                <a:sym typeface="Calibri"/>
              </a:rPr>
              <a:t> For presentations and testing, filenames matching the override registry return pre-validated deterministic output — guaranteed clean score, correct amounts, correct dates — even without a live Groq API call. Lets you demo confidently without depending on network or API availability on stage.</a:t>
            </a:r>
            <a:endParaRPr sz="1800">
              <a:solidFill>
                <a:schemeClr val="dk1"/>
              </a:solidFill>
              <a:latin typeface="Calibri"/>
              <a:ea typeface="Calibri"/>
              <a:cs typeface="Calibri"/>
              <a:sym typeface="Calibri"/>
            </a:endParaRPr>
          </a:p>
          <a:p>
            <a:pPr indent="0" lvl="0" marL="0" marR="0" rtl="0" algn="just">
              <a:spcBef>
                <a:spcPts val="120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5"/>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44" name="Google Shape;144;p5"/>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Demo/Product Walkthrough</a:t>
            </a:r>
            <a:endParaRPr sz="4267">
              <a:solidFill>
                <a:schemeClr val="dk1"/>
              </a:solidFill>
              <a:latin typeface="Calibri"/>
              <a:ea typeface="Calibri"/>
              <a:cs typeface="Calibri"/>
              <a:sym typeface="Calibri"/>
            </a:endParaRPr>
          </a:p>
        </p:txBody>
      </p:sp>
      <p:pic>
        <p:nvPicPr>
          <p:cNvPr id="145" name="Google Shape;145;p5" title="Screenshot 2026-05-08 231042.png"/>
          <p:cNvPicPr preferRelativeResize="0"/>
          <p:nvPr/>
        </p:nvPicPr>
        <p:blipFill>
          <a:blip r:embed="rId3">
            <a:alphaModFix/>
          </a:blip>
          <a:stretch>
            <a:fillRect/>
          </a:stretch>
        </p:blipFill>
        <p:spPr>
          <a:xfrm>
            <a:off x="3152900" y="1512325"/>
            <a:ext cx="5886199" cy="3833350"/>
          </a:xfrm>
          <a:prstGeom prst="rect">
            <a:avLst/>
          </a:prstGeom>
          <a:noFill/>
          <a:ln>
            <a:noFill/>
          </a:ln>
        </p:spPr>
      </p:pic>
      <p:sp>
        <p:nvSpPr>
          <p:cNvPr id="146" name="Google Shape;146;p5"/>
          <p:cNvSpPr txBox="1"/>
          <p:nvPr/>
        </p:nvSpPr>
        <p:spPr>
          <a:xfrm>
            <a:off x="2860950" y="5578575"/>
            <a:ext cx="7504200" cy="85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b="1" sz="1100"/>
          </a:p>
          <a:p>
            <a:pPr indent="0" lvl="0" marL="0" rtl="0" algn="l">
              <a:spcBef>
                <a:spcPts val="0"/>
              </a:spcBef>
              <a:spcAft>
                <a:spcPts val="0"/>
              </a:spcAft>
              <a:buNone/>
            </a:pPr>
            <a:r>
              <a:rPr b="1" lang="en-IN"/>
              <a:t>Screen 1</a:t>
            </a:r>
            <a:r>
              <a:rPr lang="en-IN"/>
              <a:t> : Landing / Login</a:t>
            </a:r>
            <a:endParaRPr/>
          </a:p>
          <a:p>
            <a:pPr indent="0" lvl="0" marL="0" rtl="0" algn="l">
              <a:spcBef>
                <a:spcPts val="0"/>
              </a:spcBef>
              <a:spcAft>
                <a:spcPts val="0"/>
              </a:spcAft>
              <a:buNone/>
            </a:pPr>
            <a:r>
              <a:rPr b="1" lang="en-IN"/>
              <a:t>Key Moment</a:t>
            </a:r>
            <a:r>
              <a:rPr lang="en-IN"/>
              <a:t> : User signs up or logs in via Supabase Auth</a:t>
            </a:r>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dfb11f9506_0_28"/>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dfb11f9506_0_28"/>
          <p:cNvSpPr/>
          <p:nvPr/>
        </p:nvSpPr>
        <p:spPr>
          <a:xfrm>
            <a:off x="609600" y="219456"/>
            <a:ext cx="19506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3dfb11f9506_0_28"/>
          <p:cNvSpPr/>
          <p:nvPr/>
        </p:nvSpPr>
        <p:spPr>
          <a:xfrm>
            <a:off x="609600" y="219456"/>
            <a:ext cx="1950600" cy="34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55" name="Google Shape;155;g3dfb11f9506_0_28"/>
          <p:cNvSpPr/>
          <p:nvPr/>
        </p:nvSpPr>
        <p:spPr>
          <a:xfrm>
            <a:off x="609600" y="670560"/>
            <a:ext cx="10972800" cy="85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Demo/Product Walkthrough</a:t>
            </a:r>
            <a:endParaRPr sz="4267">
              <a:solidFill>
                <a:schemeClr val="dk1"/>
              </a:solidFill>
              <a:latin typeface="Calibri"/>
              <a:ea typeface="Calibri"/>
              <a:cs typeface="Calibri"/>
              <a:sym typeface="Calibri"/>
            </a:endParaRPr>
          </a:p>
        </p:txBody>
      </p:sp>
      <p:pic>
        <p:nvPicPr>
          <p:cNvPr id="156" name="Google Shape;156;g3dfb11f9506_0_28" title="Screenshot 2026-05-08 231147.png"/>
          <p:cNvPicPr preferRelativeResize="0"/>
          <p:nvPr/>
        </p:nvPicPr>
        <p:blipFill>
          <a:blip r:embed="rId3">
            <a:alphaModFix/>
          </a:blip>
          <a:stretch>
            <a:fillRect/>
          </a:stretch>
        </p:blipFill>
        <p:spPr>
          <a:xfrm>
            <a:off x="3120675" y="1537825"/>
            <a:ext cx="6352925" cy="4184375"/>
          </a:xfrm>
          <a:prstGeom prst="rect">
            <a:avLst/>
          </a:prstGeom>
          <a:noFill/>
          <a:ln>
            <a:noFill/>
          </a:ln>
        </p:spPr>
      </p:pic>
      <p:sp>
        <p:nvSpPr>
          <p:cNvPr id="157" name="Google Shape;157;g3dfb11f9506_0_28"/>
          <p:cNvSpPr txBox="1"/>
          <p:nvPr/>
        </p:nvSpPr>
        <p:spPr>
          <a:xfrm>
            <a:off x="3080551" y="5722200"/>
            <a:ext cx="6925800" cy="102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1100">
              <a:solidFill>
                <a:schemeClr val="dk1"/>
              </a:solidFill>
            </a:endParaRPr>
          </a:p>
          <a:p>
            <a:pPr indent="0" lvl="0" marL="0" rtl="0" algn="l">
              <a:spcBef>
                <a:spcPts val="0"/>
              </a:spcBef>
              <a:spcAft>
                <a:spcPts val="0"/>
              </a:spcAft>
              <a:buNone/>
            </a:pPr>
            <a:r>
              <a:rPr b="1" lang="en-IN">
                <a:solidFill>
                  <a:schemeClr val="dk1"/>
                </a:solidFill>
              </a:rPr>
              <a:t>Screen 2</a:t>
            </a:r>
            <a:r>
              <a:rPr lang="en-IN">
                <a:solidFill>
                  <a:schemeClr val="dk1"/>
                </a:solidFill>
              </a:rPr>
              <a:t> : </a:t>
            </a:r>
            <a:r>
              <a:rPr lang="en-IN">
                <a:solidFill>
                  <a:schemeClr val="dk1"/>
                </a:solidFill>
              </a:rPr>
              <a:t>Upload Document </a:t>
            </a:r>
            <a:endParaRPr>
              <a:solidFill>
                <a:schemeClr val="dk1"/>
              </a:solidFill>
            </a:endParaRPr>
          </a:p>
          <a:p>
            <a:pPr indent="0" lvl="0" marL="0" rtl="0" algn="l">
              <a:spcBef>
                <a:spcPts val="0"/>
              </a:spcBef>
              <a:spcAft>
                <a:spcPts val="0"/>
              </a:spcAft>
              <a:buNone/>
            </a:pPr>
            <a:r>
              <a:rPr b="1" lang="en-IN">
                <a:solidFill>
                  <a:schemeClr val="dk1"/>
                </a:solidFill>
              </a:rPr>
              <a:t>Key Moment</a:t>
            </a:r>
            <a:r>
              <a:rPr lang="en-IN">
                <a:solidFill>
                  <a:schemeClr val="dk1"/>
                </a:solidFill>
              </a:rPr>
              <a:t> : </a:t>
            </a:r>
            <a:r>
              <a:rPr lang="en-IN">
                <a:solidFill>
                  <a:schemeClr val="dk1"/>
                </a:solidFill>
              </a:rPr>
              <a:t>User uploads a photo/scan of an informal financial doc (rent receipt, payslip, etc.)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dfb11f9506_0_19"/>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dfb11f9506_0_19"/>
          <p:cNvSpPr/>
          <p:nvPr/>
        </p:nvSpPr>
        <p:spPr>
          <a:xfrm>
            <a:off x="609600" y="219456"/>
            <a:ext cx="19506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3dfb11f9506_0_19"/>
          <p:cNvSpPr/>
          <p:nvPr/>
        </p:nvSpPr>
        <p:spPr>
          <a:xfrm>
            <a:off x="609600" y="219456"/>
            <a:ext cx="1950600" cy="34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66" name="Google Shape;166;g3dfb11f9506_0_19"/>
          <p:cNvSpPr/>
          <p:nvPr/>
        </p:nvSpPr>
        <p:spPr>
          <a:xfrm>
            <a:off x="609600" y="670560"/>
            <a:ext cx="10972800" cy="85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Demo/Product Walkthrough</a:t>
            </a:r>
            <a:endParaRPr sz="4267">
              <a:solidFill>
                <a:schemeClr val="dk1"/>
              </a:solidFill>
              <a:latin typeface="Calibri"/>
              <a:ea typeface="Calibri"/>
              <a:cs typeface="Calibri"/>
              <a:sym typeface="Calibri"/>
            </a:endParaRPr>
          </a:p>
        </p:txBody>
      </p:sp>
      <p:pic>
        <p:nvPicPr>
          <p:cNvPr id="167" name="Google Shape;167;g3dfb11f9506_0_19" title="Screenshot 2026-05-08 231211.png"/>
          <p:cNvPicPr preferRelativeResize="0"/>
          <p:nvPr/>
        </p:nvPicPr>
        <p:blipFill>
          <a:blip r:embed="rId3">
            <a:alphaModFix/>
          </a:blip>
          <a:stretch>
            <a:fillRect/>
          </a:stretch>
        </p:blipFill>
        <p:spPr>
          <a:xfrm>
            <a:off x="3170800" y="1524052"/>
            <a:ext cx="6153175" cy="3954575"/>
          </a:xfrm>
          <a:prstGeom prst="rect">
            <a:avLst/>
          </a:prstGeom>
          <a:noFill/>
          <a:ln>
            <a:noFill/>
          </a:ln>
        </p:spPr>
      </p:pic>
      <p:sp>
        <p:nvSpPr>
          <p:cNvPr id="168" name="Google Shape;168;g3dfb11f9506_0_19"/>
          <p:cNvSpPr txBox="1"/>
          <p:nvPr/>
        </p:nvSpPr>
        <p:spPr>
          <a:xfrm>
            <a:off x="3758600" y="5691075"/>
            <a:ext cx="5224200" cy="81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1100">
              <a:solidFill>
                <a:schemeClr val="dk1"/>
              </a:solidFill>
            </a:endParaRPr>
          </a:p>
          <a:p>
            <a:pPr indent="0" lvl="0" marL="0" rtl="0" algn="l">
              <a:spcBef>
                <a:spcPts val="0"/>
              </a:spcBef>
              <a:spcAft>
                <a:spcPts val="0"/>
              </a:spcAft>
              <a:buNone/>
            </a:pPr>
            <a:r>
              <a:rPr b="1" lang="en-IN">
                <a:solidFill>
                  <a:schemeClr val="dk1"/>
                </a:solidFill>
              </a:rPr>
              <a:t>Screen 3</a:t>
            </a:r>
            <a:r>
              <a:rPr lang="en-IN">
                <a:solidFill>
                  <a:schemeClr val="dk1"/>
                </a:solidFill>
              </a:rPr>
              <a:t> : </a:t>
            </a:r>
            <a:r>
              <a:rPr lang="en-IN">
                <a:solidFill>
                  <a:schemeClr val="dk1"/>
                </a:solidFill>
              </a:rPr>
              <a:t>Score / Summary </a:t>
            </a:r>
            <a:endParaRPr>
              <a:solidFill>
                <a:schemeClr val="dk1"/>
              </a:solidFill>
            </a:endParaRPr>
          </a:p>
          <a:p>
            <a:pPr indent="0" lvl="0" marL="0" rtl="0" algn="l">
              <a:spcBef>
                <a:spcPts val="0"/>
              </a:spcBef>
              <a:spcAft>
                <a:spcPts val="0"/>
              </a:spcAft>
              <a:buNone/>
            </a:pPr>
            <a:r>
              <a:rPr b="1" lang="en-IN">
                <a:solidFill>
                  <a:schemeClr val="dk1"/>
                </a:solidFill>
              </a:rPr>
              <a:t>Key Moment</a:t>
            </a:r>
            <a:r>
              <a:rPr lang="en-IN">
                <a:solidFill>
                  <a:schemeClr val="dk1"/>
                </a:solidFill>
              </a:rPr>
              <a:t> : </a:t>
            </a:r>
            <a:r>
              <a:rPr lang="en-IN">
                <a:solidFill>
                  <a:schemeClr val="dk1"/>
                </a:solidFill>
              </a:rPr>
              <a:t>Document trust score is shown with breakdown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dfb11f9506_0_10"/>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3dfb11f9506_0_10"/>
          <p:cNvSpPr/>
          <p:nvPr/>
        </p:nvSpPr>
        <p:spPr>
          <a:xfrm>
            <a:off x="609600" y="219456"/>
            <a:ext cx="19506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g3dfb11f9506_0_10"/>
          <p:cNvSpPr/>
          <p:nvPr/>
        </p:nvSpPr>
        <p:spPr>
          <a:xfrm>
            <a:off x="609600" y="219456"/>
            <a:ext cx="1950600" cy="34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77" name="Google Shape;177;g3dfb11f9506_0_10"/>
          <p:cNvSpPr/>
          <p:nvPr/>
        </p:nvSpPr>
        <p:spPr>
          <a:xfrm>
            <a:off x="609600" y="670560"/>
            <a:ext cx="10972800" cy="85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Demo/Product Walkthrough</a:t>
            </a:r>
            <a:endParaRPr sz="4267">
              <a:solidFill>
                <a:schemeClr val="dk1"/>
              </a:solidFill>
              <a:latin typeface="Calibri"/>
              <a:ea typeface="Calibri"/>
              <a:cs typeface="Calibri"/>
              <a:sym typeface="Calibri"/>
            </a:endParaRPr>
          </a:p>
        </p:txBody>
      </p:sp>
      <p:pic>
        <p:nvPicPr>
          <p:cNvPr id="178" name="Google Shape;178;g3dfb11f9506_0_10" title="Screenshot 2026-05-08 231232.png"/>
          <p:cNvPicPr preferRelativeResize="0"/>
          <p:nvPr/>
        </p:nvPicPr>
        <p:blipFill>
          <a:blip r:embed="rId3">
            <a:alphaModFix/>
          </a:blip>
          <a:stretch>
            <a:fillRect/>
          </a:stretch>
        </p:blipFill>
        <p:spPr>
          <a:xfrm>
            <a:off x="2888873" y="1524048"/>
            <a:ext cx="6632599" cy="3998700"/>
          </a:xfrm>
          <a:prstGeom prst="rect">
            <a:avLst/>
          </a:prstGeom>
          <a:noFill/>
          <a:ln>
            <a:noFill/>
          </a:ln>
        </p:spPr>
      </p:pic>
      <p:sp>
        <p:nvSpPr>
          <p:cNvPr id="179" name="Google Shape;179;g3dfb11f9506_0_10"/>
          <p:cNvSpPr txBox="1"/>
          <p:nvPr/>
        </p:nvSpPr>
        <p:spPr>
          <a:xfrm>
            <a:off x="2888875" y="5709025"/>
            <a:ext cx="6740700" cy="102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1100">
              <a:solidFill>
                <a:schemeClr val="dk1"/>
              </a:solidFill>
            </a:endParaRPr>
          </a:p>
          <a:p>
            <a:pPr indent="0" lvl="0" marL="0" rtl="0" algn="l">
              <a:spcBef>
                <a:spcPts val="0"/>
              </a:spcBef>
              <a:spcAft>
                <a:spcPts val="0"/>
              </a:spcAft>
              <a:buNone/>
            </a:pPr>
            <a:r>
              <a:rPr b="1" lang="en-IN">
                <a:solidFill>
                  <a:schemeClr val="dk1"/>
                </a:solidFill>
              </a:rPr>
              <a:t>Screen 4</a:t>
            </a:r>
            <a:r>
              <a:rPr lang="en-IN">
                <a:solidFill>
                  <a:schemeClr val="dk1"/>
                </a:solidFill>
              </a:rPr>
              <a:t> : Loan Reality check</a:t>
            </a:r>
            <a:endParaRPr>
              <a:solidFill>
                <a:schemeClr val="dk1"/>
              </a:solidFill>
            </a:endParaRPr>
          </a:p>
          <a:p>
            <a:pPr indent="0" lvl="0" marL="0" rtl="0" algn="l">
              <a:spcBef>
                <a:spcPts val="0"/>
              </a:spcBef>
              <a:spcAft>
                <a:spcPts val="0"/>
              </a:spcAft>
              <a:buNone/>
            </a:pPr>
            <a:r>
              <a:rPr b="1" lang="en-IN">
                <a:solidFill>
                  <a:schemeClr val="dk1"/>
                </a:solidFill>
              </a:rPr>
              <a:t>Key Moment</a:t>
            </a:r>
            <a:r>
              <a:rPr lang="en-IN">
                <a:solidFill>
                  <a:schemeClr val="dk1"/>
                </a:solidFill>
              </a:rPr>
              <a:t> : This page shows the monthly savings and provides a loan trusteeship to the bank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dfb11f9506_0_1"/>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dfb11f9506_0_1"/>
          <p:cNvSpPr/>
          <p:nvPr/>
        </p:nvSpPr>
        <p:spPr>
          <a:xfrm>
            <a:off x="609600" y="219456"/>
            <a:ext cx="19506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g3dfb11f9506_0_1"/>
          <p:cNvSpPr/>
          <p:nvPr/>
        </p:nvSpPr>
        <p:spPr>
          <a:xfrm>
            <a:off x="609600" y="219456"/>
            <a:ext cx="1950600" cy="34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88" name="Google Shape;188;g3dfb11f9506_0_1"/>
          <p:cNvSpPr/>
          <p:nvPr/>
        </p:nvSpPr>
        <p:spPr>
          <a:xfrm>
            <a:off x="609600" y="670560"/>
            <a:ext cx="10972800" cy="85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Demo/Product Walkthrough</a:t>
            </a:r>
            <a:endParaRPr sz="4267">
              <a:solidFill>
                <a:schemeClr val="dk1"/>
              </a:solidFill>
              <a:latin typeface="Calibri"/>
              <a:ea typeface="Calibri"/>
              <a:cs typeface="Calibri"/>
              <a:sym typeface="Calibri"/>
            </a:endParaRPr>
          </a:p>
        </p:txBody>
      </p:sp>
      <p:sp>
        <p:nvSpPr>
          <p:cNvPr id="189" name="Google Shape;189;g3dfb11f9506_0_1"/>
          <p:cNvSpPr txBox="1"/>
          <p:nvPr/>
        </p:nvSpPr>
        <p:spPr>
          <a:xfrm>
            <a:off x="3579050" y="5877300"/>
            <a:ext cx="6104100" cy="102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1100">
              <a:solidFill>
                <a:schemeClr val="dk1"/>
              </a:solidFill>
            </a:endParaRPr>
          </a:p>
          <a:p>
            <a:pPr indent="0" lvl="0" marL="0" rtl="0" algn="l">
              <a:spcBef>
                <a:spcPts val="0"/>
              </a:spcBef>
              <a:spcAft>
                <a:spcPts val="0"/>
              </a:spcAft>
              <a:buNone/>
            </a:pPr>
            <a:r>
              <a:rPr b="1" lang="en-IN">
                <a:solidFill>
                  <a:schemeClr val="dk1"/>
                </a:solidFill>
              </a:rPr>
              <a:t>Screen 5</a:t>
            </a:r>
            <a:r>
              <a:rPr lang="en-IN">
                <a:solidFill>
                  <a:schemeClr val="dk1"/>
                </a:solidFill>
              </a:rPr>
              <a:t> : Income passport</a:t>
            </a:r>
            <a:endParaRPr>
              <a:solidFill>
                <a:schemeClr val="dk1"/>
              </a:solidFill>
            </a:endParaRPr>
          </a:p>
          <a:p>
            <a:pPr indent="0" lvl="0" marL="0" rtl="0" algn="l">
              <a:spcBef>
                <a:spcPts val="0"/>
              </a:spcBef>
              <a:spcAft>
                <a:spcPts val="0"/>
              </a:spcAft>
              <a:buNone/>
            </a:pPr>
            <a:r>
              <a:rPr b="1" lang="en-IN">
                <a:solidFill>
                  <a:schemeClr val="dk1"/>
                </a:solidFill>
              </a:rPr>
              <a:t>Key Moment</a:t>
            </a:r>
            <a:r>
              <a:rPr lang="en-IN">
                <a:solidFill>
                  <a:schemeClr val="dk1"/>
                </a:solidFill>
              </a:rPr>
              <a:t> : </a:t>
            </a:r>
            <a:r>
              <a:rPr lang="en-IN">
                <a:solidFill>
                  <a:schemeClr val="dk1"/>
                </a:solidFill>
              </a:rPr>
              <a:t>a tamper-proof Work Passport that turns informal income records into a trusted, shareable proof of livelihood. </a:t>
            </a:r>
            <a:endParaRPr/>
          </a:p>
        </p:txBody>
      </p:sp>
      <p:pic>
        <p:nvPicPr>
          <p:cNvPr id="190" name="Google Shape;190;g3dfb11f9506_0_1" title="Screenshot 2026-05-08 at 11.32.58 PM.png"/>
          <p:cNvPicPr preferRelativeResize="0"/>
          <p:nvPr/>
        </p:nvPicPr>
        <p:blipFill>
          <a:blip r:embed="rId3">
            <a:alphaModFix/>
          </a:blip>
          <a:stretch>
            <a:fillRect/>
          </a:stretch>
        </p:blipFill>
        <p:spPr>
          <a:xfrm>
            <a:off x="3895585" y="1566949"/>
            <a:ext cx="4400826" cy="4267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dfb11f9506_1_1"/>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dfb11f9506_1_1"/>
          <p:cNvSpPr/>
          <p:nvPr/>
        </p:nvSpPr>
        <p:spPr>
          <a:xfrm>
            <a:off x="609600" y="219456"/>
            <a:ext cx="19506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dfb11f9506_1_1"/>
          <p:cNvSpPr/>
          <p:nvPr/>
        </p:nvSpPr>
        <p:spPr>
          <a:xfrm>
            <a:off x="609600" y="219456"/>
            <a:ext cx="1950600" cy="34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199" name="Google Shape;199;g3dfb11f9506_1_1"/>
          <p:cNvSpPr/>
          <p:nvPr/>
        </p:nvSpPr>
        <p:spPr>
          <a:xfrm>
            <a:off x="609600" y="670560"/>
            <a:ext cx="10972800" cy="85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Demo/Product Walkthrough</a:t>
            </a:r>
            <a:endParaRPr sz="4267">
              <a:solidFill>
                <a:schemeClr val="dk1"/>
              </a:solidFill>
              <a:latin typeface="Calibri"/>
              <a:ea typeface="Calibri"/>
              <a:cs typeface="Calibri"/>
              <a:sym typeface="Calibri"/>
            </a:endParaRPr>
          </a:p>
        </p:txBody>
      </p:sp>
      <p:sp>
        <p:nvSpPr>
          <p:cNvPr id="200" name="Google Shape;200;g3dfb11f9506_1_1"/>
          <p:cNvSpPr txBox="1"/>
          <p:nvPr/>
        </p:nvSpPr>
        <p:spPr>
          <a:xfrm>
            <a:off x="3579050" y="5877300"/>
            <a:ext cx="6104100" cy="81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1100">
              <a:solidFill>
                <a:schemeClr val="dk1"/>
              </a:solidFill>
            </a:endParaRPr>
          </a:p>
          <a:p>
            <a:pPr indent="0" lvl="0" marL="0" rtl="0" algn="l">
              <a:spcBef>
                <a:spcPts val="0"/>
              </a:spcBef>
              <a:spcAft>
                <a:spcPts val="0"/>
              </a:spcAft>
              <a:buNone/>
            </a:pPr>
            <a:r>
              <a:rPr b="1" lang="en-IN">
                <a:solidFill>
                  <a:schemeClr val="dk1"/>
                </a:solidFill>
              </a:rPr>
              <a:t>Screen 6</a:t>
            </a:r>
            <a:r>
              <a:rPr lang="en-IN">
                <a:solidFill>
                  <a:schemeClr val="dk1"/>
                </a:solidFill>
              </a:rPr>
              <a:t> : OpenClaw</a:t>
            </a:r>
            <a:endParaRPr>
              <a:solidFill>
                <a:schemeClr val="dk1"/>
              </a:solidFill>
            </a:endParaRPr>
          </a:p>
          <a:p>
            <a:pPr indent="0" lvl="0" marL="0" rtl="0" algn="l">
              <a:spcBef>
                <a:spcPts val="0"/>
              </a:spcBef>
              <a:spcAft>
                <a:spcPts val="0"/>
              </a:spcAft>
              <a:buNone/>
            </a:pPr>
            <a:r>
              <a:rPr b="1" lang="en-IN">
                <a:solidFill>
                  <a:schemeClr val="dk1"/>
                </a:solidFill>
              </a:rPr>
              <a:t>Key Moment</a:t>
            </a:r>
            <a:r>
              <a:rPr lang="en-IN">
                <a:solidFill>
                  <a:schemeClr val="dk1"/>
                </a:solidFill>
              </a:rPr>
              <a:t> : OpenClaw orchestration</a:t>
            </a:r>
            <a:endParaRPr/>
          </a:p>
        </p:txBody>
      </p:sp>
      <p:pic>
        <p:nvPicPr>
          <p:cNvPr id="201" name="Google Shape;201;g3dfb11f9506_1_1" title="Screenshot 2026-05-08 at 11.10.17 PM.png"/>
          <p:cNvPicPr preferRelativeResize="0"/>
          <p:nvPr/>
        </p:nvPicPr>
        <p:blipFill rotWithShape="1">
          <a:blip r:embed="rId3">
            <a:alphaModFix/>
          </a:blip>
          <a:srcRect b="0" l="17566" r="7138" t="0"/>
          <a:stretch/>
        </p:blipFill>
        <p:spPr>
          <a:xfrm>
            <a:off x="1245825" y="1676450"/>
            <a:ext cx="4686700" cy="40484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6"/>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6"/>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210" name="Google Shape;210;p6"/>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Tech &amp; Architecture</a:t>
            </a:r>
            <a:endParaRPr sz="4267">
              <a:solidFill>
                <a:schemeClr val="dk1"/>
              </a:solidFill>
              <a:latin typeface="Calibri"/>
              <a:ea typeface="Calibri"/>
              <a:cs typeface="Calibri"/>
              <a:sym typeface="Calibri"/>
            </a:endParaRPr>
          </a:p>
        </p:txBody>
      </p:sp>
      <p:sp>
        <p:nvSpPr>
          <p:cNvPr id="211" name="Google Shape;211;p6"/>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212" name="Google Shape;212;p6"/>
          <p:cNvSpPr txBox="1"/>
          <p:nvPr/>
        </p:nvSpPr>
        <p:spPr>
          <a:xfrm>
            <a:off x="740504" y="1682950"/>
            <a:ext cx="10842000" cy="8619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IN" sz="1800">
                <a:solidFill>
                  <a:schemeClr val="dk1"/>
                </a:solidFill>
                <a:latin typeface="Calibri"/>
                <a:ea typeface="Calibri"/>
                <a:cs typeface="Calibri"/>
                <a:sym typeface="Calibri"/>
              </a:rPr>
              <a:t>Tech Stack</a:t>
            </a:r>
            <a:r>
              <a:rPr lang="en-IN"/>
              <a:t>: </a:t>
            </a:r>
            <a:r>
              <a:rPr lang="en-IN" sz="1800">
                <a:solidFill>
                  <a:schemeClr val="dk1"/>
                </a:solidFill>
                <a:latin typeface="Calibri"/>
                <a:ea typeface="Calibri"/>
                <a:cs typeface="Calibri"/>
                <a:sym typeface="Calibri"/>
              </a:rPr>
              <a:t>AI usage( model, APIs, Framework): OpenClaw AI Framework · Groq LLM API · Firebase · jsPDF · React.js</a:t>
            </a:r>
            <a:br>
              <a:rPr lang="en-IN" sz="1800">
                <a:solidFill>
                  <a:schemeClr val="dk1"/>
                </a:solidFill>
                <a:latin typeface="Calibri"/>
                <a:ea typeface="Calibri"/>
                <a:cs typeface="Calibri"/>
                <a:sym typeface="Calibri"/>
              </a:rPr>
            </a:br>
            <a:r>
              <a:rPr lang="en-IN" sz="1800">
                <a:solidFill>
                  <a:schemeClr val="dk1"/>
                </a:solidFill>
                <a:latin typeface="Calibri"/>
                <a:ea typeface="Calibri"/>
                <a:cs typeface="Calibri"/>
                <a:sym typeface="Calibri"/>
              </a:rPr>
              <a:t>AI Usage: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a:p>
        </p:txBody>
      </p:sp>
      <p:sp>
        <p:nvSpPr>
          <p:cNvPr id="213" name="Google Shape;213;p6"/>
          <p:cNvSpPr txBox="1"/>
          <p:nvPr/>
        </p:nvSpPr>
        <p:spPr>
          <a:xfrm>
            <a:off x="675112" y="5090256"/>
            <a:ext cx="10972800" cy="6465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IN" sz="1800">
                <a:latin typeface="Calibri"/>
                <a:ea typeface="Calibri"/>
                <a:cs typeface="Calibri"/>
                <a:sym typeface="Calibri"/>
              </a:rPr>
              <a:t>System Flow: User uploads documents → OpenClaw skill triggered → Groq API parses images → Structured JSON extracted → Consistency scoring (6-month window) → PDF Work Passport generated → Returned to user</a:t>
            </a:r>
            <a:endParaRPr sz="1800">
              <a:latin typeface="Calibri"/>
              <a:ea typeface="Calibri"/>
              <a:cs typeface="Calibri"/>
              <a:sym typeface="Calibri"/>
            </a:endParaRPr>
          </a:p>
        </p:txBody>
      </p:sp>
      <p:graphicFrame>
        <p:nvGraphicFramePr>
          <p:cNvPr id="214" name="Google Shape;214;p6"/>
          <p:cNvGraphicFramePr/>
          <p:nvPr/>
        </p:nvGraphicFramePr>
        <p:xfrm>
          <a:off x="952500" y="2857500"/>
          <a:ext cx="3000000" cy="3000000"/>
        </p:xfrm>
        <a:graphic>
          <a:graphicData uri="http://schemas.openxmlformats.org/drawingml/2006/table">
            <a:tbl>
              <a:tblPr>
                <a:noFill/>
                <a:tableStyleId>{7BC58816-BF98-4B47-BD33-F8403E895F92}</a:tableStyleId>
              </a:tblPr>
              <a:tblGrid>
                <a:gridCol w="3423050"/>
                <a:gridCol w="6863950"/>
              </a:tblGrid>
              <a:tr h="381000">
                <a:tc>
                  <a:txBody>
                    <a:bodyPr/>
                    <a:lstStyle/>
                    <a:p>
                      <a:pPr indent="0" lvl="0" marL="0" rtl="0" algn="ctr">
                        <a:spcBef>
                          <a:spcPts val="0"/>
                        </a:spcBef>
                        <a:spcAft>
                          <a:spcPts val="0"/>
                        </a:spcAft>
                        <a:buNone/>
                      </a:pPr>
                      <a:r>
                        <a:rPr lang="en-IN" sz="1800">
                          <a:latin typeface="Calibri"/>
                          <a:ea typeface="Calibri"/>
                          <a:cs typeface="Calibri"/>
                          <a:sym typeface="Calibri"/>
                        </a:rPr>
                        <a:t>Model</a:t>
                      </a:r>
                      <a:endParaRPr sz="1800">
                        <a:latin typeface="Calibri"/>
                        <a:ea typeface="Calibri"/>
                        <a:cs typeface="Calibri"/>
                        <a:sym typeface="Calibri"/>
                      </a:endParaRPr>
                    </a:p>
                  </a:txBody>
                  <a:tcPr marT="91425" marB="91425" marR="91425" marL="91425"/>
                </a:tc>
                <a:tc>
                  <a:txBody>
                    <a:bodyPr/>
                    <a:lstStyle/>
                    <a:p>
                      <a:pPr indent="0" lvl="0" marL="0" rtl="0" algn="ctr">
                        <a:spcBef>
                          <a:spcPts val="0"/>
                        </a:spcBef>
                        <a:spcAft>
                          <a:spcPts val="0"/>
                        </a:spcAft>
                        <a:buNone/>
                      </a:pPr>
                      <a:r>
                        <a:rPr lang="en-IN" sz="1800">
                          <a:latin typeface="Calibri"/>
                          <a:ea typeface="Calibri"/>
                          <a:cs typeface="Calibri"/>
                          <a:sym typeface="Calibri"/>
                        </a:rPr>
                        <a:t>Groq (LLaMA 3)</a:t>
                      </a:r>
                      <a:endParaRPr sz="1800">
                        <a:latin typeface="Calibri"/>
                        <a:ea typeface="Calibri"/>
                        <a:cs typeface="Calibri"/>
                        <a:sym typeface="Calibri"/>
                      </a:endParaRPr>
                    </a:p>
                  </a:txBody>
                  <a:tcPr marT="91425" marB="91425" marR="91425" marL="91425"/>
                </a:tc>
              </a:tr>
              <a:tr h="381000">
                <a:tc>
                  <a:txBody>
                    <a:bodyPr/>
                    <a:lstStyle/>
                    <a:p>
                      <a:pPr indent="0" lvl="0" marL="0" rtl="0" algn="ctr">
                        <a:spcBef>
                          <a:spcPts val="0"/>
                        </a:spcBef>
                        <a:spcAft>
                          <a:spcPts val="0"/>
                        </a:spcAft>
                        <a:buNone/>
                      </a:pPr>
                      <a:r>
                        <a:rPr lang="en-IN" sz="1800">
                          <a:latin typeface="Calibri"/>
                          <a:ea typeface="Calibri"/>
                          <a:cs typeface="Calibri"/>
                          <a:sym typeface="Calibri"/>
                        </a:rPr>
                        <a:t>Task</a:t>
                      </a:r>
                      <a:endParaRPr sz="1800">
                        <a:latin typeface="Calibri"/>
                        <a:ea typeface="Calibri"/>
                        <a:cs typeface="Calibri"/>
                        <a:sym typeface="Calibri"/>
                      </a:endParaRPr>
                    </a:p>
                  </a:txBody>
                  <a:tcPr marT="91425" marB="91425" marR="91425" marL="91425"/>
                </a:tc>
                <a:tc>
                  <a:txBody>
                    <a:bodyPr/>
                    <a:lstStyle/>
                    <a:p>
                      <a:pPr indent="0" lvl="0" marL="0" rtl="0" algn="ctr">
                        <a:spcBef>
                          <a:spcPts val="0"/>
                        </a:spcBef>
                        <a:spcAft>
                          <a:spcPts val="0"/>
                        </a:spcAft>
                        <a:buNone/>
                      </a:pPr>
                      <a:r>
                        <a:rPr lang="en-IN" sz="1800">
                          <a:latin typeface="Calibri"/>
                          <a:ea typeface="Calibri"/>
                          <a:cs typeface="Calibri"/>
                          <a:sym typeface="Calibri"/>
                        </a:rPr>
                        <a:t>Multimodal document parsing - extracts dates, amounts, frequency from UPI screenshots and bills</a:t>
                      </a:r>
                      <a:endParaRPr sz="1800">
                        <a:latin typeface="Calibri"/>
                        <a:ea typeface="Calibri"/>
                        <a:cs typeface="Calibri"/>
                        <a:sym typeface="Calibri"/>
                      </a:endParaRPr>
                    </a:p>
                  </a:txBody>
                  <a:tcPr marT="91425" marB="91425" marR="91425" marL="91425"/>
                </a:tc>
              </a:tr>
              <a:tr h="381000">
                <a:tc>
                  <a:txBody>
                    <a:bodyPr/>
                    <a:lstStyle/>
                    <a:p>
                      <a:pPr indent="0" lvl="0" marL="0" rtl="0" algn="ctr">
                        <a:spcBef>
                          <a:spcPts val="0"/>
                        </a:spcBef>
                        <a:spcAft>
                          <a:spcPts val="0"/>
                        </a:spcAft>
                        <a:buNone/>
                      </a:pPr>
                      <a:r>
                        <a:rPr lang="en-IN" sz="1800">
                          <a:latin typeface="Calibri"/>
                          <a:ea typeface="Calibri"/>
                          <a:cs typeface="Calibri"/>
                          <a:sym typeface="Calibri"/>
                        </a:rPr>
                        <a:t>Framework</a:t>
                      </a:r>
                      <a:endParaRPr sz="1800">
                        <a:latin typeface="Calibri"/>
                        <a:ea typeface="Calibri"/>
                        <a:cs typeface="Calibri"/>
                        <a:sym typeface="Calibri"/>
                      </a:endParaRPr>
                    </a:p>
                  </a:txBody>
                  <a:tcPr marT="91425" marB="91425" marR="91425" marL="91425"/>
                </a:tc>
                <a:tc>
                  <a:txBody>
                    <a:bodyPr/>
                    <a:lstStyle/>
                    <a:p>
                      <a:pPr indent="0" lvl="0" marL="0" rtl="0" algn="ctr">
                        <a:spcBef>
                          <a:spcPts val="0"/>
                        </a:spcBef>
                        <a:spcAft>
                          <a:spcPts val="0"/>
                        </a:spcAft>
                        <a:buNone/>
                      </a:pPr>
                      <a:r>
                        <a:rPr lang="en-IN" sz="1800">
                          <a:latin typeface="Calibri"/>
                          <a:ea typeface="Calibri"/>
                          <a:cs typeface="Calibri"/>
                          <a:sym typeface="Calibri"/>
                        </a:rPr>
                        <a:t>OpenClaw Pi Engine - agent loop that routes input, calls Groq, returns structured JSON</a:t>
                      </a:r>
                      <a:endParaRPr sz="1800">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7"/>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223" name="Google Shape;223;p7"/>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Impact &amp; Use cases</a:t>
            </a:r>
            <a:endParaRPr sz="4267">
              <a:solidFill>
                <a:schemeClr val="dk1"/>
              </a:solidFill>
              <a:latin typeface="Calibri"/>
              <a:ea typeface="Calibri"/>
              <a:cs typeface="Calibri"/>
              <a:sym typeface="Calibri"/>
            </a:endParaRPr>
          </a:p>
        </p:txBody>
      </p:sp>
      <p:sp>
        <p:nvSpPr>
          <p:cNvPr id="224" name="Google Shape;224;p7"/>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225" name="Google Shape;225;p7"/>
          <p:cNvSpPr txBox="1"/>
          <p:nvPr/>
        </p:nvSpPr>
        <p:spPr>
          <a:xfrm>
            <a:off x="510200" y="1395925"/>
            <a:ext cx="11319300" cy="53220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IN" sz="1500" u="sng">
                <a:solidFill>
                  <a:schemeClr val="dk1"/>
                </a:solidFill>
                <a:latin typeface="Calibri"/>
                <a:ea typeface="Calibri"/>
                <a:cs typeface="Calibri"/>
                <a:sym typeface="Calibri"/>
              </a:rPr>
              <a:t>Real life scenarios:</a:t>
            </a:r>
            <a:endParaRPr sz="1500" u="sng">
              <a:solidFill>
                <a:schemeClr val="dk1"/>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b="1" lang="en-IN" sz="1500">
                <a:solidFill>
                  <a:schemeClr val="dk1"/>
                </a:solidFill>
                <a:latin typeface="Calibri"/>
                <a:ea typeface="Calibri"/>
                <a:cs typeface="Calibri"/>
                <a:sym typeface="Calibri"/>
              </a:rPr>
              <a:t>Meena - Domestic Worker, Bengaluru</a:t>
            </a:r>
            <a:r>
              <a:rPr lang="en-IN" sz="1500">
                <a:solidFill>
                  <a:schemeClr val="dk1"/>
                </a:solidFill>
                <a:latin typeface="Calibri"/>
                <a:ea typeface="Calibri"/>
                <a:cs typeface="Calibri"/>
                <a:sym typeface="Calibri"/>
              </a:rPr>
              <a:t> Cleans 4 houses/month, ₹12,000 income, 11 years consistent work. No payslips. Without KamaaiProof: moneylender at 60% p.a. With KamaaiProof: MFI loan at 24%. Saves ₹4,800 in 6 months.</a:t>
            </a:r>
            <a:endParaRPr sz="1500">
              <a:solidFill>
                <a:schemeClr val="dk1"/>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b="1" lang="en-IN" sz="1500">
                <a:solidFill>
                  <a:schemeClr val="dk1"/>
                </a:solidFill>
                <a:latin typeface="Calibri"/>
                <a:ea typeface="Calibri"/>
                <a:cs typeface="Calibri"/>
                <a:sym typeface="Calibri"/>
              </a:rPr>
              <a:t>Lakshmi - SHG Leader, Rural Karnataka</a:t>
            </a:r>
            <a:r>
              <a:rPr lang="en-IN" sz="1500">
                <a:solidFill>
                  <a:schemeClr val="dk1"/>
                </a:solidFill>
                <a:latin typeface="Calibri"/>
                <a:ea typeface="Calibri"/>
                <a:cs typeface="Calibri"/>
                <a:sym typeface="Calibri"/>
              </a:rPr>
              <a:t> Manages 15 women in her group. Manually compiling income proof for each member takes weeks, error-prone. With KamaaiProof: generates verified passports for all 15 in one afternoon. Group access to formal credit increases 40%.</a:t>
            </a:r>
            <a:endParaRPr sz="1500">
              <a:solidFill>
                <a:schemeClr val="dk1"/>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b="1" lang="en-IN" sz="1500">
                <a:solidFill>
                  <a:schemeClr val="dk1"/>
                </a:solidFill>
                <a:latin typeface="Calibri"/>
                <a:ea typeface="Calibri"/>
                <a:cs typeface="Calibri"/>
                <a:sym typeface="Calibri"/>
              </a:rPr>
              <a:t>Ravi - MFI Field Officer, Tier-2 City</a:t>
            </a:r>
            <a:r>
              <a:rPr lang="en-IN" sz="1500">
                <a:solidFill>
                  <a:schemeClr val="dk1"/>
                </a:solidFill>
                <a:latin typeface="Calibri"/>
                <a:ea typeface="Calibri"/>
                <a:cs typeface="Calibri"/>
                <a:sym typeface="Calibri"/>
              </a:rPr>
              <a:t> Reviews 20 loan applications/week, 80% rejected due to missing income proof. Manual verification takes 2 hours per applicant. With KamaaiProof: qualified applicants arrive with structured, verifiable PDFs. Approval cycle cuts from 14 days to 3 days.</a:t>
            </a:r>
            <a:endParaRPr sz="1500">
              <a:solidFill>
                <a:schemeClr val="dk1"/>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b="1" lang="en-IN" sz="1500">
                <a:solidFill>
                  <a:schemeClr val="dk1"/>
                </a:solidFill>
                <a:latin typeface="Calibri"/>
                <a:ea typeface="Calibri"/>
                <a:cs typeface="Calibri"/>
                <a:sym typeface="Calibri"/>
              </a:rPr>
              <a:t>Govind - Auto Driver, Mumbai</a:t>
            </a:r>
            <a:r>
              <a:rPr lang="en-IN" sz="1500">
                <a:solidFill>
                  <a:schemeClr val="dk1"/>
                </a:solidFill>
                <a:latin typeface="Calibri"/>
                <a:ea typeface="Calibri"/>
                <a:cs typeface="Calibri"/>
                <a:sym typeface="Calibri"/>
              </a:rPr>
              <a:t> Gig worker, irregular income but consistent over 6 months. No formal records. Wants ₹50,000 for vehicle repair. KamaaiProof aggregates his UPI records into proof. First time accessing formal credit instead of borrowing from loan sharks.</a:t>
            </a:r>
            <a:endParaRPr sz="1500">
              <a:solidFill>
                <a:schemeClr val="dk1"/>
              </a:solidFill>
              <a:latin typeface="Calibri"/>
              <a:ea typeface="Calibri"/>
              <a:cs typeface="Calibri"/>
              <a:sym typeface="Calibri"/>
            </a:endParaRPr>
          </a:p>
          <a:p>
            <a:pPr indent="0" lvl="0" marL="0" marR="0" rtl="0" algn="just">
              <a:spcBef>
                <a:spcPts val="1200"/>
              </a:spcBef>
              <a:spcAft>
                <a:spcPts val="0"/>
              </a:spcAft>
              <a:buNone/>
            </a:pPr>
            <a:r>
              <a:rPr lang="en-IN" sz="1500" u="sng">
                <a:solidFill>
                  <a:schemeClr val="dk1"/>
                </a:solidFill>
                <a:latin typeface="Calibri"/>
                <a:ea typeface="Calibri"/>
                <a:cs typeface="Calibri"/>
                <a:sym typeface="Calibri"/>
              </a:rPr>
              <a:t>Scale Potential </a:t>
            </a:r>
            <a:endParaRPr sz="1500" u="sng">
              <a:solidFill>
                <a:schemeClr val="dk1"/>
              </a:solidFill>
              <a:latin typeface="Calibri"/>
              <a:ea typeface="Calibri"/>
              <a:cs typeface="Calibri"/>
              <a:sym typeface="Calibri"/>
            </a:endParaRPr>
          </a:p>
          <a:p>
            <a:pPr indent="0" lvl="0" marL="0" marR="0" rtl="0" algn="just">
              <a:spcBef>
                <a:spcPts val="0"/>
              </a:spcBef>
              <a:spcAft>
                <a:spcPts val="0"/>
              </a:spcAft>
              <a:buNone/>
            </a:pPr>
            <a:r>
              <a:rPr lang="en-IN" sz="1500">
                <a:solidFill>
                  <a:schemeClr val="dk1"/>
                </a:solidFill>
                <a:latin typeface="Calibri"/>
                <a:ea typeface="Calibri"/>
                <a:cs typeface="Calibri"/>
                <a:sym typeface="Calibri"/>
              </a:rPr>
              <a:t>1 </a:t>
            </a:r>
            <a:r>
              <a:rPr b="1" lang="en-IN" sz="1500">
                <a:solidFill>
                  <a:schemeClr val="dk1"/>
                </a:solidFill>
                <a:latin typeface="Calibri"/>
                <a:ea typeface="Calibri"/>
                <a:cs typeface="Calibri"/>
                <a:sym typeface="Calibri"/>
              </a:rPr>
              <a:t>Agent : 20 Workers</a:t>
            </a:r>
            <a:r>
              <a:rPr lang="en-IN" sz="1500">
                <a:solidFill>
                  <a:schemeClr val="dk1"/>
                </a:solidFill>
                <a:latin typeface="Calibri"/>
                <a:ea typeface="Calibri"/>
                <a:cs typeface="Calibri"/>
                <a:sym typeface="Calibri"/>
              </a:rPr>
              <a:t> - single OpenClaw instance on SHG leader's device handles batch document processing</a:t>
            </a:r>
            <a:endParaRPr sz="1500">
              <a:solidFill>
                <a:schemeClr val="dk1"/>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b="1" lang="en-IN" sz="1500">
                <a:solidFill>
                  <a:schemeClr val="dk1"/>
                </a:solidFill>
                <a:latin typeface="Calibri"/>
                <a:ea typeface="Calibri"/>
                <a:cs typeface="Calibri"/>
                <a:sym typeface="Calibri"/>
              </a:rPr>
              <a:t>10,000+ Profiles</a:t>
            </a:r>
            <a:r>
              <a:rPr lang="en-IN" sz="1500">
                <a:solidFill>
                  <a:schemeClr val="dk1"/>
                </a:solidFill>
                <a:latin typeface="Calibri"/>
                <a:ea typeface="Calibri"/>
                <a:cs typeface="Calibri"/>
                <a:sym typeface="Calibri"/>
              </a:rPr>
              <a:t> - targeted dataset for initial AI training and accuracy benchmarking</a:t>
            </a:r>
            <a:endParaRPr sz="1500">
              <a:solidFill>
                <a:schemeClr val="dk1"/>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b="1" lang="en-IN" sz="1500">
                <a:solidFill>
                  <a:schemeClr val="dk1"/>
                </a:solidFill>
                <a:latin typeface="Calibri"/>
                <a:ea typeface="Calibri"/>
                <a:cs typeface="Calibri"/>
                <a:sym typeface="Calibri"/>
              </a:rPr>
              <a:t>Existing SHG &amp; MFI Networks</a:t>
            </a:r>
            <a:r>
              <a:rPr lang="en-IN" sz="1500">
                <a:solidFill>
                  <a:schemeClr val="dk1"/>
                </a:solidFill>
                <a:latin typeface="Calibri"/>
                <a:ea typeface="Calibri"/>
                <a:cs typeface="Calibri"/>
                <a:sym typeface="Calibri"/>
              </a:rPr>
              <a:t> - leveraging 6.9M SHGs and 900K+ Anganwadi workers for distribution, no new infrastructure required</a:t>
            </a:r>
            <a:endParaRPr sz="1500">
              <a:solidFill>
                <a:schemeClr val="dk1"/>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b="1" lang="en-IN" sz="1500">
                <a:solidFill>
                  <a:schemeClr val="dk1"/>
                </a:solidFill>
                <a:latin typeface="Calibri"/>
                <a:ea typeface="Calibri"/>
                <a:cs typeface="Calibri"/>
                <a:sym typeface="Calibri"/>
              </a:rPr>
              <a:t>B2B2C Model</a:t>
            </a:r>
            <a:r>
              <a:rPr lang="en-IN" sz="1500">
                <a:solidFill>
                  <a:schemeClr val="dk1"/>
                </a:solidFill>
                <a:latin typeface="Calibri"/>
                <a:ea typeface="Calibri"/>
                <a:cs typeface="Calibri"/>
                <a:sym typeface="Calibri"/>
              </a:rPr>
              <a:t> - MFIs pay per qualified application, KamaaiProof scales with their pipeline growth</a:t>
            </a:r>
            <a:endParaRPr sz="1500">
              <a:solidFill>
                <a:schemeClr val="dk1"/>
              </a:solidFill>
              <a:latin typeface="Calibri"/>
              <a:ea typeface="Calibri"/>
              <a:cs typeface="Calibri"/>
              <a:sym typeface="Calibri"/>
            </a:endParaRPr>
          </a:p>
          <a:p>
            <a:pPr indent="0" lvl="0" marL="0" marR="0" rtl="0" algn="just">
              <a:spcBef>
                <a:spcPts val="120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8"/>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234" name="Google Shape;234;p8"/>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Differentiation</a:t>
            </a:r>
            <a:endParaRPr sz="4267">
              <a:solidFill>
                <a:schemeClr val="dk1"/>
              </a:solidFill>
              <a:latin typeface="Calibri"/>
              <a:ea typeface="Calibri"/>
              <a:cs typeface="Calibri"/>
              <a:sym typeface="Calibri"/>
            </a:endParaRPr>
          </a:p>
        </p:txBody>
      </p:sp>
      <p:sp>
        <p:nvSpPr>
          <p:cNvPr id="235" name="Google Shape;235;p8"/>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236" name="Google Shape;236;p8"/>
          <p:cNvSpPr txBox="1"/>
          <p:nvPr/>
        </p:nvSpPr>
        <p:spPr>
          <a:xfrm>
            <a:off x="740500" y="1682950"/>
            <a:ext cx="10842000" cy="3694200"/>
          </a:xfrm>
          <a:prstGeom prst="rect">
            <a:avLst/>
          </a:prstGeom>
          <a:noFill/>
          <a:ln>
            <a:noFill/>
          </a:ln>
        </p:spPr>
        <p:txBody>
          <a:bodyPr anchorCtr="0" anchor="t" bIns="45700" lIns="91425" spcFirstLastPara="1" rIns="91425" wrap="square" tIns="45700">
            <a:spAutoFit/>
          </a:bodyPr>
          <a:lstStyle/>
          <a:p>
            <a:pPr indent="0" lvl="0" marL="0" rtl="0" algn="just">
              <a:spcBef>
                <a:spcPts val="0"/>
              </a:spcBef>
              <a:spcAft>
                <a:spcPts val="0"/>
              </a:spcAft>
              <a:buClr>
                <a:schemeClr val="dk1"/>
              </a:buClr>
              <a:buSzPts val="1100"/>
              <a:buFont typeface="Arial"/>
              <a:buNone/>
            </a:pPr>
            <a:r>
              <a:rPr b="1" lang="en-IN" sz="1800">
                <a:solidFill>
                  <a:schemeClr val="dk1"/>
                </a:solidFill>
                <a:latin typeface="Calibri"/>
                <a:ea typeface="Calibri"/>
                <a:cs typeface="Calibri"/>
                <a:sym typeface="Calibri"/>
              </a:rPr>
              <a:t>MOAT 1: Worker Data Ownership</a:t>
            </a:r>
            <a:endParaRPr b="1" sz="1800">
              <a:solidFill>
                <a:schemeClr val="dk1"/>
              </a:solidFill>
              <a:latin typeface="Calibri"/>
              <a:ea typeface="Calibri"/>
              <a:cs typeface="Calibri"/>
              <a:sym typeface="Calibri"/>
            </a:endParaRPr>
          </a:p>
          <a:p>
            <a:pPr indent="0" lvl="0" marL="0" marR="0" rtl="0" algn="just">
              <a:spcBef>
                <a:spcPts val="0"/>
              </a:spcBef>
              <a:spcAft>
                <a:spcPts val="0"/>
              </a:spcAft>
              <a:buNone/>
            </a:pPr>
            <a:r>
              <a:rPr lang="en-IN" sz="1800">
                <a:solidFill>
                  <a:schemeClr val="dk1"/>
                </a:solidFill>
                <a:latin typeface="Calibri"/>
                <a:ea typeface="Calibri"/>
                <a:cs typeface="Calibri"/>
                <a:sym typeface="Calibri"/>
              </a:rPr>
              <a:t>The worker's score or profile is controlled by every product available on the market, including CIBIL, e-Shram, Tala, and Kaleidofin. This is reversed by KamaaiProof; the employee owns the PDF, takes it to any lender, and switches lenders without re-verification. Meena owns the data asset, not the platform. Because employees have no need to use a black-box scoring system once they have their own passport, this is both operationally irreplaceable and lawfully defendable under DPDP. User autonomy includes switching costs.</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rPr b="1" lang="en-IN" sz="1800">
                <a:solidFill>
                  <a:schemeClr val="dk1"/>
                </a:solidFill>
                <a:latin typeface="Calibri"/>
                <a:ea typeface="Calibri"/>
                <a:cs typeface="Calibri"/>
                <a:sym typeface="Calibri"/>
              </a:rPr>
              <a:t>MOAT 2: Hyperlocal Income Intelligence</a:t>
            </a:r>
            <a:endParaRPr b="1" sz="1800">
              <a:solidFill>
                <a:schemeClr val="dk1"/>
              </a:solidFill>
              <a:latin typeface="Calibri"/>
              <a:ea typeface="Calibri"/>
              <a:cs typeface="Calibri"/>
              <a:sym typeface="Calibri"/>
            </a:endParaRPr>
          </a:p>
          <a:p>
            <a:pPr indent="0" lvl="0" marL="0" marR="0" rtl="0" algn="just">
              <a:spcBef>
                <a:spcPts val="0"/>
              </a:spcBef>
              <a:spcAft>
                <a:spcPts val="0"/>
              </a:spcAft>
              <a:buNone/>
            </a:pPr>
            <a:r>
              <a:rPr lang="en-IN" sz="1800">
                <a:solidFill>
                  <a:schemeClr val="dk1"/>
                </a:solidFill>
                <a:latin typeface="Calibri"/>
                <a:ea typeface="Calibri"/>
                <a:cs typeface="Calibri"/>
                <a:sym typeface="Calibri"/>
              </a:rPr>
              <a:t>India's informal income patterns, such as UPI transaction signatures, domestic worker salary benchmarks, gig worker seasonality, and SHG lending cycles, are all learned by KamaaiProof. This corpus, which is incorporated into the vector database and scoring system, is very difficult to duplicate and has no use outside of India. This is difficult for a global fintech to port. The entire training dataset and MFI cooperation network would have to be rebuilt by an Indian rival. Our model gets increasingly precise and region-specific the longer we run it.</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9"/>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9"/>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245" name="Google Shape;245;p9"/>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Demo Link</a:t>
            </a:r>
            <a:endParaRPr sz="4267">
              <a:solidFill>
                <a:schemeClr val="dk1"/>
              </a:solidFill>
              <a:latin typeface="Calibri"/>
              <a:ea typeface="Calibri"/>
              <a:cs typeface="Calibri"/>
              <a:sym typeface="Calibri"/>
            </a:endParaRPr>
          </a:p>
        </p:txBody>
      </p:sp>
      <p:sp>
        <p:nvSpPr>
          <p:cNvPr id="246" name="Google Shape;246;p9"/>
          <p:cNvSpPr txBox="1"/>
          <p:nvPr/>
        </p:nvSpPr>
        <p:spPr>
          <a:xfrm>
            <a:off x="740500" y="1682950"/>
            <a:ext cx="10199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alibri"/>
                <a:ea typeface="Calibri"/>
                <a:cs typeface="Calibri"/>
                <a:sym typeface="Calibri"/>
              </a:rPr>
              <a:t>GitHub Repo : </a:t>
            </a:r>
            <a:r>
              <a:rPr lang="en-IN" sz="1800">
                <a:solidFill>
                  <a:schemeClr val="dk1"/>
                </a:solidFill>
                <a:latin typeface="Calibri"/>
                <a:ea typeface="Calibri"/>
                <a:cs typeface="Calibri"/>
                <a:sym typeface="Calibri"/>
              </a:rPr>
              <a:t>https://github.com/Vidisha231106/KamaaiProof</a:t>
            </a:r>
            <a:br>
              <a:rPr b="1" lang="en-IN" sz="1800">
                <a:solidFill>
                  <a:schemeClr val="dk1"/>
                </a:solidFill>
                <a:latin typeface="Calibri"/>
                <a:ea typeface="Calibri"/>
                <a:cs typeface="Calibri"/>
                <a:sym typeface="Calibri"/>
              </a:rPr>
            </a:br>
            <a:r>
              <a:rPr b="1" lang="en-IN" sz="1800">
                <a:solidFill>
                  <a:schemeClr val="dk1"/>
                </a:solidFill>
                <a:latin typeface="Calibri"/>
                <a:ea typeface="Calibri"/>
                <a:cs typeface="Calibri"/>
                <a:sym typeface="Calibri"/>
              </a:rPr>
              <a:t>Demo Link</a:t>
            </a:r>
            <a:r>
              <a:rPr lang="en-IN" sz="1800">
                <a:solidFill>
                  <a:schemeClr val="dk1"/>
                </a:solidFill>
                <a:latin typeface="Calibri"/>
                <a:ea typeface="Calibri"/>
                <a:cs typeface="Calibri"/>
                <a:sym typeface="Calibri"/>
              </a:rPr>
              <a:t> : https://drive.google.com/file/d/15u-VTZ2A4oxDs_xcZyafK1uI7GySnwwg/view?usp=sharing</a:t>
            </a:r>
            <a:br>
              <a:rPr lang="en-IN" sz="1800">
                <a:solidFill>
                  <a:schemeClr val="dk1"/>
                </a:solidFill>
                <a:latin typeface="Calibri"/>
                <a:ea typeface="Calibri"/>
                <a:cs typeface="Calibri"/>
                <a:sym typeface="Calibri"/>
              </a:rPr>
            </a:b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0"/>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0"/>
          <p:cNvSpPr/>
          <p:nvPr/>
        </p:nvSpPr>
        <p:spPr>
          <a:xfrm>
            <a:off x="609600" y="219456"/>
            <a:ext cx="1950720" cy="341376"/>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0"/>
          <p:cNvSpPr/>
          <p:nvPr/>
        </p:nvSpPr>
        <p:spPr>
          <a:xfrm>
            <a:off x="609600" y="219456"/>
            <a:ext cx="1950720" cy="3413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IN" sz="1000">
                <a:solidFill>
                  <a:schemeClr val="lt1"/>
                </a:solidFill>
                <a:latin typeface="Calibri"/>
                <a:ea typeface="Calibri"/>
                <a:cs typeface="Calibri"/>
                <a:sym typeface="Calibri"/>
              </a:rPr>
              <a:t>Idea</a:t>
            </a:r>
            <a:endParaRPr sz="1000">
              <a:solidFill>
                <a:schemeClr val="lt1"/>
              </a:solidFill>
              <a:latin typeface="Calibri"/>
              <a:ea typeface="Calibri"/>
              <a:cs typeface="Calibri"/>
              <a:sym typeface="Calibri"/>
            </a:endParaRPr>
          </a:p>
        </p:txBody>
      </p:sp>
      <p:sp>
        <p:nvSpPr>
          <p:cNvPr id="255" name="Google Shape;255;p10"/>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IN" sz="4267">
                <a:solidFill>
                  <a:schemeClr val="dk1"/>
                </a:solidFill>
                <a:latin typeface="Calibri"/>
                <a:ea typeface="Calibri"/>
                <a:cs typeface="Calibri"/>
                <a:sym typeface="Calibri"/>
              </a:rPr>
              <a:t>OpenClaw Integration: Why It Matters</a:t>
            </a:r>
            <a:endParaRPr sz="4267">
              <a:solidFill>
                <a:schemeClr val="dk1"/>
              </a:solidFill>
              <a:latin typeface="Calibri"/>
              <a:ea typeface="Calibri"/>
              <a:cs typeface="Calibri"/>
              <a:sym typeface="Calibri"/>
            </a:endParaRPr>
          </a:p>
        </p:txBody>
      </p:sp>
      <p:sp>
        <p:nvSpPr>
          <p:cNvPr id="256" name="Google Shape;256;p10"/>
          <p:cNvSpPr/>
          <p:nvPr/>
        </p:nvSpPr>
        <p:spPr>
          <a:xfrm>
            <a:off x="5852160" y="1395928"/>
            <a:ext cx="5120640" cy="5486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666">
              <a:solidFill>
                <a:schemeClr val="dk1"/>
              </a:solidFill>
              <a:latin typeface="Calibri"/>
              <a:ea typeface="Calibri"/>
              <a:cs typeface="Calibri"/>
              <a:sym typeface="Calibri"/>
            </a:endParaRPr>
          </a:p>
        </p:txBody>
      </p:sp>
      <p:sp>
        <p:nvSpPr>
          <p:cNvPr id="257" name="Google Shape;257;p10"/>
          <p:cNvSpPr txBox="1"/>
          <p:nvPr/>
        </p:nvSpPr>
        <p:spPr>
          <a:xfrm>
            <a:off x="740504" y="1682950"/>
            <a:ext cx="10842000" cy="4248300"/>
          </a:xfrm>
          <a:prstGeom prst="rect">
            <a:avLst/>
          </a:prstGeom>
          <a:noFill/>
          <a:ln>
            <a:noFill/>
          </a:ln>
        </p:spPr>
        <p:txBody>
          <a:bodyPr anchorCtr="0" anchor="t" bIns="45700" lIns="91425" spcFirstLastPara="1" rIns="91425" wrap="square" tIns="45700">
            <a:spAutoFit/>
          </a:bodyPr>
          <a:lstStyle/>
          <a:p>
            <a:pPr indent="0" lvl="0" marL="0" rtl="0" algn="just">
              <a:spcBef>
                <a:spcPts val="0"/>
              </a:spcBef>
              <a:spcAft>
                <a:spcPts val="0"/>
              </a:spcAft>
              <a:buClr>
                <a:schemeClr val="dk1"/>
              </a:buClr>
              <a:buSzPts val="1100"/>
              <a:buFont typeface="Arial"/>
              <a:buNone/>
            </a:pPr>
            <a:r>
              <a:rPr b="1" lang="en-IN" sz="1800">
                <a:solidFill>
                  <a:schemeClr val="dk1"/>
                </a:solidFill>
                <a:latin typeface="Calibri"/>
                <a:ea typeface="Calibri"/>
                <a:cs typeface="Calibri"/>
                <a:sym typeface="Calibri"/>
              </a:rPr>
              <a:t>Sovereign AI on Device</a:t>
            </a:r>
            <a:endParaRPr b="1" sz="1800">
              <a:solidFill>
                <a:schemeClr val="dk1"/>
              </a:solidFill>
              <a:latin typeface="Calibri"/>
              <a:ea typeface="Calibri"/>
              <a:cs typeface="Calibri"/>
              <a:sym typeface="Calibri"/>
            </a:endParaRPr>
          </a:p>
          <a:p>
            <a:pPr indent="0" lvl="0" marL="0" rtl="0" algn="just">
              <a:spcBef>
                <a:spcPts val="0"/>
              </a:spcBef>
              <a:spcAft>
                <a:spcPts val="0"/>
              </a:spcAft>
              <a:buSzPts val="1100"/>
              <a:buNone/>
            </a:pPr>
            <a:r>
              <a:rPr lang="en-IN" sz="1800">
                <a:solidFill>
                  <a:schemeClr val="dk1"/>
                </a:solidFill>
                <a:latin typeface="Calibri"/>
                <a:ea typeface="Calibri"/>
                <a:cs typeface="Calibri"/>
                <a:sym typeface="Calibri"/>
              </a:rPr>
              <a:t>The whole parsing, scoring, and PDF generating pipeline of KamaaiProof operates locally on the SHG leader's device, making it a modular OpenClaw talent. No lock-in among vendors no reliance on the cloud, and no data leaving the user's hardware. This is both cost-effective at scale and privacy-by-design.</a:t>
            </a:r>
            <a:endParaRPr sz="1800">
              <a:solidFill>
                <a:schemeClr val="dk1"/>
              </a:solidFill>
              <a:latin typeface="Calibri"/>
              <a:ea typeface="Calibri"/>
              <a:cs typeface="Calibri"/>
              <a:sym typeface="Calibri"/>
            </a:endParaRPr>
          </a:p>
          <a:p>
            <a:pPr indent="0" lvl="0" marL="0" rtl="0" algn="just">
              <a:spcBef>
                <a:spcPts val="0"/>
              </a:spcBef>
              <a:spcAft>
                <a:spcPts val="0"/>
              </a:spcAft>
              <a:buSzPts val="1100"/>
              <a:buNone/>
            </a:pPr>
            <a:r>
              <a:t/>
            </a:r>
            <a:endParaRPr sz="18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rPr b="1" lang="en-IN" sz="1800">
                <a:solidFill>
                  <a:schemeClr val="dk1"/>
                </a:solidFill>
                <a:latin typeface="Calibri"/>
                <a:ea typeface="Calibri"/>
                <a:cs typeface="Calibri"/>
                <a:sym typeface="Calibri"/>
              </a:rPr>
              <a:t>Plug-and-Play Modularity</a:t>
            </a:r>
            <a:endParaRPr b="1" sz="1800">
              <a:solidFill>
                <a:schemeClr val="dk1"/>
              </a:solidFill>
              <a:latin typeface="Calibri"/>
              <a:ea typeface="Calibri"/>
              <a:cs typeface="Calibri"/>
              <a:sym typeface="Calibri"/>
            </a:endParaRPr>
          </a:p>
          <a:p>
            <a:pPr indent="0" lvl="0" marL="0" marR="0" rtl="0" algn="just">
              <a:spcBef>
                <a:spcPts val="0"/>
              </a:spcBef>
              <a:spcAft>
                <a:spcPts val="0"/>
              </a:spcAft>
              <a:buNone/>
            </a:pPr>
            <a:r>
              <a:rPr lang="en-IN" sz="1800">
                <a:solidFill>
                  <a:schemeClr val="dk1"/>
                </a:solidFill>
                <a:latin typeface="Calibri"/>
                <a:ea typeface="Calibri"/>
                <a:cs typeface="Calibri"/>
                <a:sym typeface="Calibri"/>
              </a:rPr>
              <a:t>Because of OpenClaw's architecture, KamaaiProof may be implemented as a skill on any agent instance, be it embedded in a larger workflow, operating on a Mac mini in a microfinance office, or a Raspberry Pi in a hamlet. Infinite deployment contexts with a single codebase. MFIs adopt our expertise rather than our platform.</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b="1" lang="en-IN" sz="1800">
                <a:solidFill>
                  <a:schemeClr val="dk1"/>
                </a:solidFill>
                <a:latin typeface="Calibri"/>
                <a:ea typeface="Calibri"/>
                <a:cs typeface="Calibri"/>
                <a:sym typeface="Calibri"/>
              </a:rPr>
              <a:t>Competitive Insulation</a:t>
            </a:r>
            <a:endParaRPr b="1" sz="1800">
              <a:solidFill>
                <a:schemeClr val="dk1"/>
              </a:solidFill>
              <a:latin typeface="Calibri"/>
              <a:ea typeface="Calibri"/>
              <a:cs typeface="Calibri"/>
              <a:sym typeface="Calibri"/>
            </a:endParaRPr>
          </a:p>
          <a:p>
            <a:pPr indent="0" lvl="0" marL="0" marR="0" rtl="0" algn="just">
              <a:spcBef>
                <a:spcPts val="0"/>
              </a:spcBef>
              <a:spcAft>
                <a:spcPts val="0"/>
              </a:spcAft>
              <a:buNone/>
            </a:pPr>
            <a:r>
              <a:rPr lang="en-IN" sz="1800">
                <a:solidFill>
                  <a:schemeClr val="dk1"/>
                </a:solidFill>
                <a:latin typeface="Calibri"/>
                <a:ea typeface="Calibri"/>
                <a:cs typeface="Calibri"/>
                <a:sym typeface="Calibri"/>
              </a:rPr>
              <a:t>By adhering to OpenClaw's ecosystem, we avoid competing with closed platforms for market share. We are expanding an open-source agent framework that is already used by more than fifteen different skills. We benefit from network effects, which make KamaaiProof a more natural and reliable component as OpenClaw adoption increases.</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2026-04-27T09:11:02Z</dcterms:created>
  <dc:creator>Prakhar Chandrakar ./PRISM /SRI-Bangalore/Professional/Samsung Electronics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